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Inter Bold" charset="1" panose="020B0802030000000004"/>
      <p:regular r:id="rId20"/>
    </p:embeddedFont>
    <p:embeddedFont>
      <p:font typeface="Inter" charset="1" panose="020B0502030000000004"/>
      <p:regular r:id="rId21"/>
    </p:embeddedFont>
    <p:embeddedFont>
      <p:font typeface="Inter Bold Italics" charset="1" panose="020B0802030000000004"/>
      <p:regular r:id="rId22"/>
    </p:embeddedFont>
    <p:embeddedFont>
      <p:font typeface="Inter Italics" charset="1" panose="020B05020300000000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Relationship Id="rId5" Target="../media/image1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69736" y="1297534"/>
            <a:ext cx="8924088" cy="8989466"/>
          </a:xfrm>
          <a:custGeom>
            <a:avLst/>
            <a:gdLst/>
            <a:ahLst/>
            <a:cxnLst/>
            <a:rect r="r" b="b" t="t" l="l"/>
            <a:pathLst>
              <a:path h="8989466" w="8924088">
                <a:moveTo>
                  <a:pt x="0" y="0"/>
                </a:moveTo>
                <a:lnTo>
                  <a:pt x="8924088" y="0"/>
                </a:lnTo>
                <a:lnTo>
                  <a:pt x="8924088" y="8989466"/>
                </a:lnTo>
                <a:lnTo>
                  <a:pt x="0" y="8989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075604" y="107980"/>
            <a:ext cx="11118221" cy="10041475"/>
            <a:chOff x="0" y="0"/>
            <a:chExt cx="2928256" cy="26446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8256" cy="2644668"/>
            </a:xfrm>
            <a:custGeom>
              <a:avLst/>
              <a:gdLst/>
              <a:ahLst/>
              <a:cxnLst/>
              <a:rect r="r" b="b" t="t" l="l"/>
              <a:pathLst>
                <a:path h="2644668" w="2928256">
                  <a:moveTo>
                    <a:pt x="0" y="0"/>
                  </a:moveTo>
                  <a:lnTo>
                    <a:pt x="2928256" y="0"/>
                  </a:lnTo>
                  <a:lnTo>
                    <a:pt x="2928256" y="2644668"/>
                  </a:lnTo>
                  <a:lnTo>
                    <a:pt x="0" y="2644668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76200"/>
              <a:ext cx="2928256" cy="2568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757126" y="108004"/>
            <a:ext cx="10773748" cy="10178996"/>
            <a:chOff x="0" y="0"/>
            <a:chExt cx="2837530" cy="26808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37530" cy="2680888"/>
            </a:xfrm>
            <a:custGeom>
              <a:avLst/>
              <a:gdLst/>
              <a:ahLst/>
              <a:cxnLst/>
              <a:rect r="r" b="b" t="t" l="l"/>
              <a:pathLst>
                <a:path h="2680888" w="2837530">
                  <a:moveTo>
                    <a:pt x="0" y="0"/>
                  </a:moveTo>
                  <a:lnTo>
                    <a:pt x="2837530" y="0"/>
                  </a:lnTo>
                  <a:lnTo>
                    <a:pt x="2837530" y="2680888"/>
                  </a:lnTo>
                  <a:lnTo>
                    <a:pt x="0" y="2680888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76200"/>
              <a:ext cx="2837530" cy="2604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03636" y="933450"/>
            <a:ext cx="15880728" cy="785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7"/>
              </a:lnSpc>
            </a:pPr>
          </a:p>
          <a:p>
            <a:pPr algn="l">
              <a:lnSpc>
                <a:spcPts val="6857"/>
              </a:lnSpc>
              <a:spcBef>
                <a:spcPct val="0"/>
              </a:spcBef>
            </a:pPr>
            <a:r>
              <a:rPr lang="en-US" b="true" sz="489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GCU Eye – Assistive Navigation App for Visually Impaired Students</a:t>
            </a:r>
          </a:p>
          <a:p>
            <a:pPr algn="l">
              <a:lnSpc>
                <a:spcPts val="6106"/>
              </a:lnSpc>
              <a:spcBef>
                <a:spcPct val="0"/>
              </a:spcBef>
            </a:pPr>
          </a:p>
          <a:p>
            <a:pPr algn="l">
              <a:lnSpc>
                <a:spcPts val="6106"/>
              </a:lnSpc>
              <a:spcBef>
                <a:spcPct val="0"/>
              </a:spcBef>
            </a:pPr>
          </a:p>
          <a:p>
            <a:pPr algn="l">
              <a:lnSpc>
                <a:spcPts val="6106"/>
              </a:lnSpc>
              <a:spcBef>
                <a:spcPct val="0"/>
              </a:spcBef>
            </a:pPr>
          </a:p>
          <a:p>
            <a:pPr algn="l">
              <a:lnSpc>
                <a:spcPts val="6106"/>
              </a:lnSpc>
              <a:spcBef>
                <a:spcPct val="0"/>
              </a:spcBef>
            </a:pPr>
          </a:p>
          <a:p>
            <a:pPr algn="l">
              <a:lnSpc>
                <a:spcPts val="6106"/>
              </a:lnSpc>
              <a:spcBef>
                <a:spcPct val="0"/>
              </a:spcBef>
            </a:pPr>
          </a:p>
          <a:p>
            <a:pPr algn="l">
              <a:lnSpc>
                <a:spcPts val="6106"/>
              </a:lnSpc>
              <a:spcBef>
                <a:spcPct val="0"/>
              </a:spcBef>
            </a:pPr>
            <a:r>
              <a:rPr lang="en-US" sz="43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Presented by: Ahtisham Tasawar &amp; Danish Mustafa Awan</a:t>
            </a:r>
          </a:p>
          <a:p>
            <a:pPr algn="l">
              <a:lnSpc>
                <a:spcPts val="5393"/>
              </a:lnSpc>
              <a:spcBef>
                <a:spcPct val="0"/>
              </a:spcBef>
            </a:pPr>
            <a:r>
              <a:rPr lang="en-US" sz="385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Supervisor: Ma’am Qurra-Tul-Ann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688489" y="-1688489"/>
            <a:ext cx="10287000" cy="13663977"/>
            <a:chOff x="0" y="0"/>
            <a:chExt cx="2709333" cy="35987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3598743"/>
            </a:xfrm>
            <a:custGeom>
              <a:avLst/>
              <a:gdLst/>
              <a:ahLst/>
              <a:cxnLst/>
              <a:rect r="r" b="b" t="t" l="l"/>
              <a:pathLst>
                <a:path h="3598743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3598743"/>
                  </a:lnTo>
                  <a:lnTo>
                    <a:pt x="0" y="3598743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709333" cy="3551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32970" y="2134621"/>
            <a:ext cx="5434050" cy="991097"/>
            <a:chOff x="0" y="0"/>
            <a:chExt cx="1417549" cy="2585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17549" cy="258542"/>
            </a:xfrm>
            <a:custGeom>
              <a:avLst/>
              <a:gdLst/>
              <a:ahLst/>
              <a:cxnLst/>
              <a:rect r="r" b="b" t="t" l="l"/>
              <a:pathLst>
                <a:path h="258542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228623"/>
                  </a:lnTo>
                  <a:cubicBezTo>
                    <a:pt x="1417549" y="245147"/>
                    <a:pt x="1404154" y="258542"/>
                    <a:pt x="1387630" y="258542"/>
                  </a:cubicBezTo>
                  <a:lnTo>
                    <a:pt x="29919" y="258542"/>
                  </a:lnTo>
                  <a:cubicBezTo>
                    <a:pt x="13395" y="258542"/>
                    <a:pt x="0" y="245147"/>
                    <a:pt x="0" y="228623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04775"/>
              <a:ext cx="1417549" cy="153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47"/>
                </a:lnSpc>
              </a:pPr>
              <a:r>
                <a:rPr lang="en-US" sz="357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User Interfaces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32970" y="3457848"/>
            <a:ext cx="5434050" cy="961278"/>
            <a:chOff x="0" y="0"/>
            <a:chExt cx="1417549" cy="2507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17549" cy="250763"/>
            </a:xfrm>
            <a:custGeom>
              <a:avLst/>
              <a:gdLst/>
              <a:ahLst/>
              <a:cxnLst/>
              <a:rect r="r" b="b" t="t" l="l"/>
              <a:pathLst>
                <a:path h="250763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220844"/>
                  </a:lnTo>
                  <a:cubicBezTo>
                    <a:pt x="1417549" y="237368"/>
                    <a:pt x="1404154" y="250763"/>
                    <a:pt x="1387630" y="250763"/>
                  </a:cubicBezTo>
                  <a:lnTo>
                    <a:pt x="29919" y="250763"/>
                  </a:lnTo>
                  <a:cubicBezTo>
                    <a:pt x="13395" y="250763"/>
                    <a:pt x="0" y="237368"/>
                    <a:pt x="0" y="220844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04775"/>
              <a:ext cx="1417549" cy="145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47"/>
                </a:lnSpc>
              </a:pPr>
              <a:r>
                <a:rPr lang="en-US" sz="357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</a:t>
              </a:r>
              <a:r>
                <a:rPr lang="en-US" sz="357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mplementation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32970" y="4812465"/>
            <a:ext cx="5434050" cy="976896"/>
            <a:chOff x="0" y="0"/>
            <a:chExt cx="1417549" cy="2548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17549" cy="254837"/>
            </a:xfrm>
            <a:custGeom>
              <a:avLst/>
              <a:gdLst/>
              <a:ahLst/>
              <a:cxnLst/>
              <a:rect r="r" b="b" t="t" l="l"/>
              <a:pathLst>
                <a:path h="254837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224918"/>
                  </a:lnTo>
                  <a:cubicBezTo>
                    <a:pt x="1417549" y="241442"/>
                    <a:pt x="1404154" y="254837"/>
                    <a:pt x="1387630" y="254837"/>
                  </a:cubicBezTo>
                  <a:lnTo>
                    <a:pt x="29919" y="254837"/>
                  </a:lnTo>
                  <a:cubicBezTo>
                    <a:pt x="13395" y="254837"/>
                    <a:pt x="0" y="241442"/>
                    <a:pt x="0" y="224918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04775"/>
              <a:ext cx="1417549" cy="150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47"/>
                </a:lnSpc>
              </a:pPr>
              <a:r>
                <a:rPr lang="en-US" sz="357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Challenges &amp; Limitation</a:t>
              </a:r>
            </a:p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32970" y="6113211"/>
            <a:ext cx="5434050" cy="992484"/>
            <a:chOff x="0" y="0"/>
            <a:chExt cx="1417549" cy="2589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17549" cy="258904"/>
            </a:xfrm>
            <a:custGeom>
              <a:avLst/>
              <a:gdLst/>
              <a:ahLst/>
              <a:cxnLst/>
              <a:rect r="r" b="b" t="t" l="l"/>
              <a:pathLst>
                <a:path h="258904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228985"/>
                  </a:lnTo>
                  <a:cubicBezTo>
                    <a:pt x="1417549" y="245509"/>
                    <a:pt x="1404154" y="258904"/>
                    <a:pt x="1387630" y="258904"/>
                  </a:cubicBezTo>
                  <a:lnTo>
                    <a:pt x="29919" y="258904"/>
                  </a:lnTo>
                  <a:cubicBezTo>
                    <a:pt x="13395" y="258904"/>
                    <a:pt x="0" y="245509"/>
                    <a:pt x="0" y="228985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04775"/>
              <a:ext cx="1417549" cy="1541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47"/>
                </a:lnSpc>
              </a:pPr>
              <a:r>
                <a:rPr lang="en-US" sz="357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Conclusion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932970" y="7429546"/>
            <a:ext cx="5434050" cy="982147"/>
            <a:chOff x="0" y="0"/>
            <a:chExt cx="1417549" cy="2562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17549" cy="256207"/>
            </a:xfrm>
            <a:custGeom>
              <a:avLst/>
              <a:gdLst/>
              <a:ahLst/>
              <a:cxnLst/>
              <a:rect r="r" b="b" t="t" l="l"/>
              <a:pathLst>
                <a:path h="256207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226288"/>
                  </a:lnTo>
                  <a:cubicBezTo>
                    <a:pt x="1417549" y="242812"/>
                    <a:pt x="1404154" y="256207"/>
                    <a:pt x="1387630" y="256207"/>
                  </a:cubicBezTo>
                  <a:lnTo>
                    <a:pt x="29919" y="256207"/>
                  </a:lnTo>
                  <a:cubicBezTo>
                    <a:pt x="13395" y="256207"/>
                    <a:pt x="0" y="242812"/>
                    <a:pt x="0" y="226288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104775"/>
              <a:ext cx="1417549" cy="151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47"/>
                </a:lnSpc>
              </a:pPr>
              <a:r>
                <a:rPr lang="en-US" sz="357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Future Work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87764" y="347906"/>
            <a:ext cx="6193115" cy="1584290"/>
            <a:chOff x="0" y="0"/>
            <a:chExt cx="1631108" cy="4172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31108" cy="417261"/>
            </a:xfrm>
            <a:custGeom>
              <a:avLst/>
              <a:gdLst/>
              <a:ahLst/>
              <a:cxnLst/>
              <a:rect r="r" b="b" t="t" l="l"/>
              <a:pathLst>
                <a:path h="417261" w="1631108">
                  <a:moveTo>
                    <a:pt x="21251" y="0"/>
                  </a:moveTo>
                  <a:lnTo>
                    <a:pt x="1609857" y="0"/>
                  </a:lnTo>
                  <a:cubicBezTo>
                    <a:pt x="1621594" y="0"/>
                    <a:pt x="1631108" y="9515"/>
                    <a:pt x="1631108" y="21251"/>
                  </a:cubicBezTo>
                  <a:lnTo>
                    <a:pt x="1631108" y="396010"/>
                  </a:lnTo>
                  <a:cubicBezTo>
                    <a:pt x="1631108" y="407747"/>
                    <a:pt x="1621594" y="417261"/>
                    <a:pt x="1609857" y="417261"/>
                  </a:cubicBezTo>
                  <a:lnTo>
                    <a:pt x="21251" y="417261"/>
                  </a:lnTo>
                  <a:cubicBezTo>
                    <a:pt x="9515" y="417261"/>
                    <a:pt x="0" y="407747"/>
                    <a:pt x="0" y="396010"/>
                  </a:cubicBezTo>
                  <a:lnTo>
                    <a:pt x="0" y="21251"/>
                  </a:lnTo>
                  <a:cubicBezTo>
                    <a:pt x="0" y="9515"/>
                    <a:pt x="9515" y="0"/>
                    <a:pt x="2125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209550"/>
              <a:ext cx="1631108" cy="207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6139"/>
                </a:lnSpc>
              </a:pPr>
              <a:r>
                <a:rPr lang="en-US" b="true" sz="6976" u="sng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Outline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87764" y="2172721"/>
            <a:ext cx="5434050" cy="1234841"/>
            <a:chOff x="0" y="0"/>
            <a:chExt cx="1417549" cy="32212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17549" cy="322126"/>
            </a:xfrm>
            <a:custGeom>
              <a:avLst/>
              <a:gdLst/>
              <a:ahLst/>
              <a:cxnLst/>
              <a:rect r="r" b="b" t="t" l="l"/>
              <a:pathLst>
                <a:path h="322126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292207"/>
                  </a:lnTo>
                  <a:cubicBezTo>
                    <a:pt x="1417549" y="308731"/>
                    <a:pt x="1404154" y="322126"/>
                    <a:pt x="1387630" y="322126"/>
                  </a:cubicBezTo>
                  <a:lnTo>
                    <a:pt x="29919" y="322126"/>
                  </a:lnTo>
                  <a:cubicBezTo>
                    <a:pt x="13395" y="322126"/>
                    <a:pt x="0" y="308731"/>
                    <a:pt x="0" y="292207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104775"/>
              <a:ext cx="1417549" cy="217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7"/>
                </a:lnSpc>
              </a:pPr>
              <a:r>
                <a:rPr lang="en-US" b="true" sz="3576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Introduction to GCU Eye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787764" y="3457848"/>
            <a:ext cx="5434050" cy="991097"/>
            <a:chOff x="0" y="0"/>
            <a:chExt cx="1417549" cy="25854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17549" cy="258542"/>
            </a:xfrm>
            <a:custGeom>
              <a:avLst/>
              <a:gdLst/>
              <a:ahLst/>
              <a:cxnLst/>
              <a:rect r="r" b="b" t="t" l="l"/>
              <a:pathLst>
                <a:path h="258542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228623"/>
                  </a:lnTo>
                  <a:cubicBezTo>
                    <a:pt x="1417549" y="245147"/>
                    <a:pt x="1404154" y="258542"/>
                    <a:pt x="1387630" y="258542"/>
                  </a:cubicBezTo>
                  <a:lnTo>
                    <a:pt x="29919" y="258542"/>
                  </a:lnTo>
                  <a:cubicBezTo>
                    <a:pt x="13395" y="258542"/>
                    <a:pt x="0" y="245147"/>
                    <a:pt x="0" y="228623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104775"/>
              <a:ext cx="1417549" cy="153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147"/>
                </a:lnSpc>
              </a:pPr>
              <a:r>
                <a:rPr lang="en-US" b="true" sz="3576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Problem Statement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787764" y="4798264"/>
            <a:ext cx="5434050" cy="991097"/>
            <a:chOff x="0" y="0"/>
            <a:chExt cx="1417549" cy="25854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17549" cy="258542"/>
            </a:xfrm>
            <a:custGeom>
              <a:avLst/>
              <a:gdLst/>
              <a:ahLst/>
              <a:cxnLst/>
              <a:rect r="r" b="b" t="t" l="l"/>
              <a:pathLst>
                <a:path h="258542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228623"/>
                  </a:lnTo>
                  <a:cubicBezTo>
                    <a:pt x="1417549" y="245147"/>
                    <a:pt x="1404154" y="258542"/>
                    <a:pt x="1387630" y="258542"/>
                  </a:cubicBezTo>
                  <a:lnTo>
                    <a:pt x="29919" y="258542"/>
                  </a:lnTo>
                  <a:cubicBezTo>
                    <a:pt x="13395" y="258542"/>
                    <a:pt x="0" y="245147"/>
                    <a:pt x="0" y="228623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104775"/>
              <a:ext cx="1417549" cy="153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47"/>
                </a:lnSpc>
              </a:pPr>
              <a:r>
                <a:rPr lang="en-US" sz="357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Research Objectives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787764" y="6113211"/>
            <a:ext cx="5434050" cy="992484"/>
            <a:chOff x="0" y="0"/>
            <a:chExt cx="1417549" cy="25890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17549" cy="258904"/>
            </a:xfrm>
            <a:custGeom>
              <a:avLst/>
              <a:gdLst/>
              <a:ahLst/>
              <a:cxnLst/>
              <a:rect r="r" b="b" t="t" l="l"/>
              <a:pathLst>
                <a:path h="258904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228985"/>
                  </a:lnTo>
                  <a:cubicBezTo>
                    <a:pt x="1417549" y="245509"/>
                    <a:pt x="1404154" y="258904"/>
                    <a:pt x="1387630" y="258904"/>
                  </a:cubicBezTo>
                  <a:lnTo>
                    <a:pt x="29919" y="258904"/>
                  </a:lnTo>
                  <a:cubicBezTo>
                    <a:pt x="13395" y="258904"/>
                    <a:pt x="0" y="245509"/>
                    <a:pt x="0" y="228985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104775"/>
              <a:ext cx="1417549" cy="1541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47"/>
                </a:lnSpc>
              </a:pPr>
              <a:r>
                <a:rPr lang="en-US" sz="357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System Overview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787764" y="7429546"/>
            <a:ext cx="5434050" cy="1000081"/>
            <a:chOff x="0" y="0"/>
            <a:chExt cx="1417549" cy="26088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17549" cy="260885"/>
            </a:xfrm>
            <a:custGeom>
              <a:avLst/>
              <a:gdLst/>
              <a:ahLst/>
              <a:cxnLst/>
              <a:rect r="r" b="b" t="t" l="l"/>
              <a:pathLst>
                <a:path h="260885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230967"/>
                  </a:lnTo>
                  <a:cubicBezTo>
                    <a:pt x="1417549" y="247490"/>
                    <a:pt x="1404154" y="260885"/>
                    <a:pt x="1387630" y="260885"/>
                  </a:cubicBezTo>
                  <a:lnTo>
                    <a:pt x="29919" y="260885"/>
                  </a:lnTo>
                  <a:cubicBezTo>
                    <a:pt x="13395" y="260885"/>
                    <a:pt x="0" y="247490"/>
                    <a:pt x="0" y="230967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104775"/>
              <a:ext cx="1417549" cy="156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47"/>
                </a:lnSpc>
              </a:pPr>
              <a:r>
                <a:rPr lang="en-US" sz="357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Architecture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021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975" y="-36655"/>
            <a:ext cx="18238025" cy="10287000"/>
            <a:chOff x="0" y="0"/>
            <a:chExt cx="480343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034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03430">
                  <a:moveTo>
                    <a:pt x="0" y="0"/>
                  </a:moveTo>
                  <a:lnTo>
                    <a:pt x="4803430" y="0"/>
                  </a:lnTo>
                  <a:lnTo>
                    <a:pt x="480343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803430" cy="2661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765083" y="764083"/>
            <a:ext cx="10323655" cy="8722179"/>
            <a:chOff x="0" y="0"/>
            <a:chExt cx="2718987" cy="22971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18987" cy="2297200"/>
            </a:xfrm>
            <a:custGeom>
              <a:avLst/>
              <a:gdLst/>
              <a:ahLst/>
              <a:cxnLst/>
              <a:rect r="r" b="b" t="t" l="l"/>
              <a:pathLst>
                <a:path h="2297200" w="2718987">
                  <a:moveTo>
                    <a:pt x="0" y="0"/>
                  </a:moveTo>
                  <a:lnTo>
                    <a:pt x="2718987" y="0"/>
                  </a:lnTo>
                  <a:lnTo>
                    <a:pt x="2718987" y="2297200"/>
                  </a:lnTo>
                  <a:lnTo>
                    <a:pt x="0" y="2297200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2718987" cy="2249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13713" y="171552"/>
            <a:ext cx="17178162" cy="136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27"/>
              </a:lnSpc>
              <a:spcBef>
                <a:spcPct val="0"/>
              </a:spcBef>
            </a:pPr>
            <a:r>
              <a:rPr lang="en-US" b="true" sz="4876" i="true" u="sng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GCU Eye: An Accessible Campus Companion</a:t>
            </a:r>
          </a:p>
          <a:p>
            <a:pPr algn="l">
              <a:lnSpc>
                <a:spcPts val="3887"/>
              </a:lnSpc>
              <a:spcBef>
                <a:spcPct val="0"/>
              </a:spcBef>
            </a:pPr>
            <a:r>
              <a:rPr lang="en-US" b="true" sz="277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 smart, offline, and inclusive navigation assistant for blind students at GCU.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13713" y="2341913"/>
            <a:ext cx="8730287" cy="1464771"/>
            <a:chOff x="0" y="0"/>
            <a:chExt cx="2299335" cy="3857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9335" cy="385783"/>
            </a:xfrm>
            <a:custGeom>
              <a:avLst/>
              <a:gdLst/>
              <a:ahLst/>
              <a:cxnLst/>
              <a:rect r="r" b="b" t="t" l="l"/>
              <a:pathLst>
                <a:path h="385783" w="2299335">
                  <a:moveTo>
                    <a:pt x="15075" y="0"/>
                  </a:moveTo>
                  <a:lnTo>
                    <a:pt x="2284259" y="0"/>
                  </a:lnTo>
                  <a:cubicBezTo>
                    <a:pt x="2292585" y="0"/>
                    <a:pt x="2299335" y="6749"/>
                    <a:pt x="2299335" y="15075"/>
                  </a:cubicBezTo>
                  <a:lnTo>
                    <a:pt x="2299335" y="370708"/>
                  </a:lnTo>
                  <a:cubicBezTo>
                    <a:pt x="2299335" y="374706"/>
                    <a:pt x="2297747" y="378541"/>
                    <a:pt x="2294919" y="381368"/>
                  </a:cubicBezTo>
                  <a:cubicBezTo>
                    <a:pt x="2292092" y="384195"/>
                    <a:pt x="2288258" y="385783"/>
                    <a:pt x="2284259" y="385783"/>
                  </a:cubicBezTo>
                  <a:lnTo>
                    <a:pt x="15075" y="385783"/>
                  </a:lnTo>
                  <a:cubicBezTo>
                    <a:pt x="6749" y="385783"/>
                    <a:pt x="0" y="379034"/>
                    <a:pt x="0" y="370708"/>
                  </a:cubicBezTo>
                  <a:lnTo>
                    <a:pt x="0" y="15075"/>
                  </a:lnTo>
                  <a:cubicBezTo>
                    <a:pt x="0" y="6749"/>
                    <a:pt x="6749" y="0"/>
                    <a:pt x="150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4A5B">
                    <a:alpha val="10000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85725"/>
              <a:ext cx="2299335" cy="300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664163" indent="-332081" lvl="1">
                <a:lnSpc>
                  <a:spcPts val="2707"/>
                </a:lnSpc>
                <a:buFont typeface="Arial"/>
                <a:buChar char="•"/>
              </a:pPr>
              <a:r>
                <a:rPr lang="en-US" sz="30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Real-time Object Detection using YOLOv8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35010" y="2342522"/>
            <a:ext cx="8313489" cy="1464771"/>
            <a:chOff x="0" y="0"/>
            <a:chExt cx="2189561" cy="3857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89561" cy="385783"/>
            </a:xfrm>
            <a:custGeom>
              <a:avLst/>
              <a:gdLst/>
              <a:ahLst/>
              <a:cxnLst/>
              <a:rect r="r" b="b" t="t" l="l"/>
              <a:pathLst>
                <a:path h="385783" w="2189561">
                  <a:moveTo>
                    <a:pt x="15831" y="0"/>
                  </a:moveTo>
                  <a:lnTo>
                    <a:pt x="2173730" y="0"/>
                  </a:lnTo>
                  <a:cubicBezTo>
                    <a:pt x="2182473" y="0"/>
                    <a:pt x="2189561" y="7088"/>
                    <a:pt x="2189561" y="15831"/>
                  </a:cubicBezTo>
                  <a:lnTo>
                    <a:pt x="2189561" y="369952"/>
                  </a:lnTo>
                  <a:cubicBezTo>
                    <a:pt x="2189561" y="378695"/>
                    <a:pt x="2182473" y="385783"/>
                    <a:pt x="2173730" y="385783"/>
                  </a:cubicBezTo>
                  <a:lnTo>
                    <a:pt x="15831" y="385783"/>
                  </a:lnTo>
                  <a:cubicBezTo>
                    <a:pt x="7088" y="385783"/>
                    <a:pt x="0" y="378695"/>
                    <a:pt x="0" y="369952"/>
                  </a:cubicBezTo>
                  <a:lnTo>
                    <a:pt x="0" y="15831"/>
                  </a:lnTo>
                  <a:cubicBezTo>
                    <a:pt x="0" y="7088"/>
                    <a:pt x="7088" y="0"/>
                    <a:pt x="158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4A5B">
                    <a:alpha val="10000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76200"/>
              <a:ext cx="2189561" cy="309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577805" indent="-288903" lvl="1">
                <a:lnSpc>
                  <a:spcPts val="2355"/>
                </a:lnSpc>
                <a:buFont typeface="Arial"/>
                <a:buChar char="•"/>
              </a:pPr>
              <a:r>
                <a:rPr lang="en-US" sz="26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VR Indoor Navigation with step-based Dijkstra paths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13713" y="4616918"/>
            <a:ext cx="8730287" cy="1464771"/>
            <a:chOff x="0" y="0"/>
            <a:chExt cx="2299335" cy="3857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99335" cy="385783"/>
            </a:xfrm>
            <a:custGeom>
              <a:avLst/>
              <a:gdLst/>
              <a:ahLst/>
              <a:cxnLst/>
              <a:rect r="r" b="b" t="t" l="l"/>
              <a:pathLst>
                <a:path h="385783" w="2299335">
                  <a:moveTo>
                    <a:pt x="15075" y="0"/>
                  </a:moveTo>
                  <a:lnTo>
                    <a:pt x="2284259" y="0"/>
                  </a:lnTo>
                  <a:cubicBezTo>
                    <a:pt x="2292585" y="0"/>
                    <a:pt x="2299335" y="6749"/>
                    <a:pt x="2299335" y="15075"/>
                  </a:cubicBezTo>
                  <a:lnTo>
                    <a:pt x="2299335" y="370708"/>
                  </a:lnTo>
                  <a:cubicBezTo>
                    <a:pt x="2299335" y="374706"/>
                    <a:pt x="2297747" y="378541"/>
                    <a:pt x="2294919" y="381368"/>
                  </a:cubicBezTo>
                  <a:cubicBezTo>
                    <a:pt x="2292092" y="384195"/>
                    <a:pt x="2288258" y="385783"/>
                    <a:pt x="2284259" y="385783"/>
                  </a:cubicBezTo>
                  <a:lnTo>
                    <a:pt x="15075" y="385783"/>
                  </a:lnTo>
                  <a:cubicBezTo>
                    <a:pt x="6749" y="385783"/>
                    <a:pt x="0" y="379034"/>
                    <a:pt x="0" y="370708"/>
                  </a:cubicBezTo>
                  <a:lnTo>
                    <a:pt x="0" y="15075"/>
                  </a:lnTo>
                  <a:cubicBezTo>
                    <a:pt x="0" y="6749"/>
                    <a:pt x="6749" y="0"/>
                    <a:pt x="150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4A5B">
                    <a:alpha val="10000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76200"/>
              <a:ext cx="2299335" cy="309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577805" indent="-288903" lvl="1">
                <a:lnSpc>
                  <a:spcPts val="2355"/>
                </a:lnSpc>
                <a:buFont typeface="Arial"/>
                <a:buChar char="•"/>
              </a:pPr>
              <a:r>
                <a:rPr lang="en-US" sz="26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Voice Reminders &amp; SOS for safety and scheduling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735010" y="4616918"/>
            <a:ext cx="8313489" cy="1464771"/>
            <a:chOff x="0" y="0"/>
            <a:chExt cx="2189561" cy="38578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89561" cy="385783"/>
            </a:xfrm>
            <a:custGeom>
              <a:avLst/>
              <a:gdLst/>
              <a:ahLst/>
              <a:cxnLst/>
              <a:rect r="r" b="b" t="t" l="l"/>
              <a:pathLst>
                <a:path h="385783" w="2189561">
                  <a:moveTo>
                    <a:pt x="15831" y="0"/>
                  </a:moveTo>
                  <a:lnTo>
                    <a:pt x="2173730" y="0"/>
                  </a:lnTo>
                  <a:cubicBezTo>
                    <a:pt x="2182473" y="0"/>
                    <a:pt x="2189561" y="7088"/>
                    <a:pt x="2189561" y="15831"/>
                  </a:cubicBezTo>
                  <a:lnTo>
                    <a:pt x="2189561" y="369952"/>
                  </a:lnTo>
                  <a:cubicBezTo>
                    <a:pt x="2189561" y="378695"/>
                    <a:pt x="2182473" y="385783"/>
                    <a:pt x="2173730" y="385783"/>
                  </a:cubicBezTo>
                  <a:lnTo>
                    <a:pt x="15831" y="385783"/>
                  </a:lnTo>
                  <a:cubicBezTo>
                    <a:pt x="7088" y="385783"/>
                    <a:pt x="0" y="378695"/>
                    <a:pt x="0" y="369952"/>
                  </a:cubicBezTo>
                  <a:lnTo>
                    <a:pt x="0" y="15831"/>
                  </a:lnTo>
                  <a:cubicBezTo>
                    <a:pt x="0" y="7088"/>
                    <a:pt x="7088" y="0"/>
                    <a:pt x="158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4A5B">
                    <a:alpha val="10000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85725"/>
              <a:ext cx="2189561" cy="300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664163" indent="-332081" lvl="1">
                <a:lnSpc>
                  <a:spcPts val="2707"/>
                </a:lnSpc>
                <a:buFont typeface="Arial"/>
                <a:buChar char="•"/>
              </a:pPr>
              <a:r>
                <a:rPr lang="en-US" sz="30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Multimodal Feedback (Audio + Vibration)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989767" y="6891314"/>
            <a:ext cx="9152108" cy="1464771"/>
            <a:chOff x="0" y="0"/>
            <a:chExt cx="2410432" cy="38578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10432" cy="385783"/>
            </a:xfrm>
            <a:custGeom>
              <a:avLst/>
              <a:gdLst/>
              <a:ahLst/>
              <a:cxnLst/>
              <a:rect r="r" b="b" t="t" l="l"/>
              <a:pathLst>
                <a:path h="385783" w="2410432">
                  <a:moveTo>
                    <a:pt x="14381" y="0"/>
                  </a:moveTo>
                  <a:lnTo>
                    <a:pt x="2396051" y="0"/>
                  </a:lnTo>
                  <a:cubicBezTo>
                    <a:pt x="2403993" y="0"/>
                    <a:pt x="2410432" y="6438"/>
                    <a:pt x="2410432" y="14381"/>
                  </a:cubicBezTo>
                  <a:lnTo>
                    <a:pt x="2410432" y="371403"/>
                  </a:lnTo>
                  <a:cubicBezTo>
                    <a:pt x="2410432" y="379345"/>
                    <a:pt x="2403993" y="385783"/>
                    <a:pt x="2396051" y="385783"/>
                  </a:cubicBezTo>
                  <a:lnTo>
                    <a:pt x="14381" y="385783"/>
                  </a:lnTo>
                  <a:cubicBezTo>
                    <a:pt x="6438" y="385783"/>
                    <a:pt x="0" y="379345"/>
                    <a:pt x="0" y="371403"/>
                  </a:cubicBezTo>
                  <a:lnTo>
                    <a:pt x="0" y="14381"/>
                  </a:lnTo>
                  <a:cubicBezTo>
                    <a:pt x="0" y="6438"/>
                    <a:pt x="6438" y="0"/>
                    <a:pt x="1438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4A5B">
                    <a:alpha val="10000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76200"/>
              <a:ext cx="2410432" cy="309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577805" indent="-288903" lvl="1">
                <a:lnSpc>
                  <a:spcPts val="2355"/>
                </a:lnSpc>
                <a:buFont typeface="Arial"/>
                <a:buChar char="•"/>
              </a:pPr>
              <a:r>
                <a:rPr lang="en-US" sz="26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Gesture-Only Control (Triple tap, Long press, Swipe)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9391" y="184499"/>
            <a:ext cx="13575147" cy="1688402"/>
            <a:chOff x="0" y="0"/>
            <a:chExt cx="3575347" cy="4446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75347" cy="444682"/>
            </a:xfrm>
            <a:custGeom>
              <a:avLst/>
              <a:gdLst/>
              <a:ahLst/>
              <a:cxnLst/>
              <a:rect r="r" b="b" t="t" l="l"/>
              <a:pathLst>
                <a:path h="444682" w="3575347">
                  <a:moveTo>
                    <a:pt x="9695" y="0"/>
                  </a:moveTo>
                  <a:lnTo>
                    <a:pt x="3565652" y="0"/>
                  </a:lnTo>
                  <a:cubicBezTo>
                    <a:pt x="3571006" y="0"/>
                    <a:pt x="3575347" y="4341"/>
                    <a:pt x="3575347" y="9695"/>
                  </a:cubicBezTo>
                  <a:lnTo>
                    <a:pt x="3575347" y="434987"/>
                  </a:lnTo>
                  <a:cubicBezTo>
                    <a:pt x="3575347" y="437558"/>
                    <a:pt x="3574326" y="440024"/>
                    <a:pt x="3572508" y="441842"/>
                  </a:cubicBezTo>
                  <a:cubicBezTo>
                    <a:pt x="3570689" y="443661"/>
                    <a:pt x="3568223" y="444682"/>
                    <a:pt x="3565652" y="444682"/>
                  </a:cubicBezTo>
                  <a:lnTo>
                    <a:pt x="9695" y="444682"/>
                  </a:lnTo>
                  <a:cubicBezTo>
                    <a:pt x="4341" y="444682"/>
                    <a:pt x="0" y="440341"/>
                    <a:pt x="0" y="434987"/>
                  </a:cubicBezTo>
                  <a:lnTo>
                    <a:pt x="0" y="9695"/>
                  </a:lnTo>
                  <a:cubicBezTo>
                    <a:pt x="0" y="4341"/>
                    <a:pt x="4341" y="0"/>
                    <a:pt x="96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71450"/>
              <a:ext cx="3575347" cy="273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5083"/>
                </a:lnSpc>
              </a:pPr>
              <a:r>
                <a:rPr lang="en-US" b="true" sz="5776" i="true" u="sng">
                  <a:solidFill>
                    <a:srgbClr val="FFFFFF"/>
                  </a:solidFill>
                  <a:latin typeface="Inter Bold Italics"/>
                  <a:ea typeface="Inter Bold Italics"/>
                  <a:cs typeface="Inter Bold Italics"/>
                  <a:sym typeface="Inter Bold Italics"/>
                </a:rPr>
                <a:t>Problem Statement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202391" y="362466"/>
            <a:ext cx="1444770" cy="1332468"/>
          </a:xfrm>
          <a:custGeom>
            <a:avLst/>
            <a:gdLst/>
            <a:ahLst/>
            <a:cxnLst/>
            <a:rect r="r" b="b" t="t" l="l"/>
            <a:pathLst>
              <a:path h="1332468" w="1444770">
                <a:moveTo>
                  <a:pt x="0" y="0"/>
                </a:moveTo>
                <a:lnTo>
                  <a:pt x="1444770" y="0"/>
                </a:lnTo>
                <a:lnTo>
                  <a:pt x="1444770" y="1332468"/>
                </a:lnTo>
                <a:lnTo>
                  <a:pt x="0" y="1332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29" t="-5964" r="0" b="-596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09391" y="2291921"/>
            <a:ext cx="19794992" cy="6683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6"/>
              </a:lnSpc>
              <a:spcBef>
                <a:spcPct val="0"/>
              </a:spcBef>
            </a:pPr>
            <a:r>
              <a:rPr lang="en-US" b="true" sz="3476" i="true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Blind students face:</a:t>
            </a:r>
          </a:p>
          <a:p>
            <a:pPr algn="l">
              <a:lnSpc>
                <a:spcPts val="4866"/>
              </a:lnSpc>
              <a:spcBef>
                <a:spcPct val="0"/>
              </a:spcBef>
            </a:pPr>
          </a:p>
          <a:p>
            <a:pPr algn="l">
              <a:lnSpc>
                <a:spcPts val="4866"/>
              </a:lnSpc>
              <a:spcBef>
                <a:spcPct val="0"/>
              </a:spcBef>
            </a:pPr>
          </a:p>
          <a:p>
            <a:pPr algn="l">
              <a:lnSpc>
                <a:spcPts val="4866"/>
              </a:lnSpc>
              <a:spcBef>
                <a:spcPct val="0"/>
              </a:spcBef>
            </a:pPr>
          </a:p>
          <a:p>
            <a:pPr algn="l">
              <a:lnSpc>
                <a:spcPts val="4866"/>
              </a:lnSpc>
              <a:spcBef>
                <a:spcPct val="0"/>
              </a:spcBef>
            </a:pPr>
          </a:p>
          <a:p>
            <a:pPr algn="l">
              <a:lnSpc>
                <a:spcPts val="4866"/>
              </a:lnSpc>
              <a:spcBef>
                <a:spcPct val="0"/>
              </a:spcBef>
            </a:pPr>
          </a:p>
          <a:p>
            <a:pPr algn="l">
              <a:lnSpc>
                <a:spcPts val="4866"/>
              </a:lnSpc>
              <a:spcBef>
                <a:spcPct val="0"/>
              </a:spcBef>
            </a:pPr>
          </a:p>
          <a:p>
            <a:pPr algn="l">
              <a:lnSpc>
                <a:spcPts val="4866"/>
              </a:lnSpc>
              <a:spcBef>
                <a:spcPct val="0"/>
              </a:spcBef>
            </a:pPr>
          </a:p>
          <a:p>
            <a:pPr algn="l">
              <a:lnSpc>
                <a:spcPts val="4866"/>
              </a:lnSpc>
              <a:spcBef>
                <a:spcPct val="0"/>
              </a:spcBef>
            </a:pPr>
          </a:p>
          <a:p>
            <a:pPr algn="l">
              <a:lnSpc>
                <a:spcPts val="4866"/>
              </a:lnSpc>
              <a:spcBef>
                <a:spcPct val="0"/>
              </a:spcBef>
            </a:pPr>
            <a:r>
              <a:rPr lang="en-US" b="true" sz="3476" i="true" u="sng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Need: A unified mobile solution for safe &amp; independent campus navigation.</a:t>
            </a:r>
          </a:p>
          <a:p>
            <a:pPr algn="l">
              <a:lnSpc>
                <a:spcPts val="4866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609391" y="3153187"/>
            <a:ext cx="7933685" cy="1269093"/>
            <a:chOff x="0" y="0"/>
            <a:chExt cx="2089530" cy="3342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89530" cy="334247"/>
            </a:xfrm>
            <a:custGeom>
              <a:avLst/>
              <a:gdLst/>
              <a:ahLst/>
              <a:cxnLst/>
              <a:rect r="r" b="b" t="t" l="l"/>
              <a:pathLst>
                <a:path h="334247" w="2089530">
                  <a:moveTo>
                    <a:pt x="16589" y="0"/>
                  </a:moveTo>
                  <a:lnTo>
                    <a:pt x="2072941" y="0"/>
                  </a:lnTo>
                  <a:cubicBezTo>
                    <a:pt x="2082103" y="0"/>
                    <a:pt x="2089530" y="7427"/>
                    <a:pt x="2089530" y="16589"/>
                  </a:cubicBezTo>
                  <a:lnTo>
                    <a:pt x="2089530" y="317658"/>
                  </a:lnTo>
                  <a:cubicBezTo>
                    <a:pt x="2089530" y="322057"/>
                    <a:pt x="2087783" y="326277"/>
                    <a:pt x="2084672" y="329388"/>
                  </a:cubicBezTo>
                  <a:cubicBezTo>
                    <a:pt x="2081561" y="332499"/>
                    <a:pt x="2077341" y="334247"/>
                    <a:pt x="2072941" y="334247"/>
                  </a:cubicBezTo>
                  <a:lnTo>
                    <a:pt x="16589" y="334247"/>
                  </a:lnTo>
                  <a:cubicBezTo>
                    <a:pt x="7427" y="334247"/>
                    <a:pt x="0" y="326820"/>
                    <a:pt x="0" y="317658"/>
                  </a:cubicBezTo>
                  <a:lnTo>
                    <a:pt x="0" y="16589"/>
                  </a:lnTo>
                  <a:cubicBezTo>
                    <a:pt x="0" y="7427"/>
                    <a:pt x="7427" y="0"/>
                    <a:pt x="165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4A5B">
                    <a:alpha val="10000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76200"/>
              <a:ext cx="2089530" cy="258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31"/>
                </a:lnSpc>
              </a:pPr>
              <a:r>
                <a:rPr lang="en-US" sz="2876" i="true">
                  <a:solidFill>
                    <a:srgbClr val="FFFFFF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Obstacles &amp; Hazards (stairs, chairs, people).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47161" y="4649917"/>
            <a:ext cx="7877777" cy="1380909"/>
            <a:chOff x="0" y="0"/>
            <a:chExt cx="2074806" cy="3636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74806" cy="363696"/>
            </a:xfrm>
            <a:custGeom>
              <a:avLst/>
              <a:gdLst/>
              <a:ahLst/>
              <a:cxnLst/>
              <a:rect r="r" b="b" t="t" l="l"/>
              <a:pathLst>
                <a:path h="363696" w="2074806">
                  <a:moveTo>
                    <a:pt x="16707" y="0"/>
                  </a:moveTo>
                  <a:lnTo>
                    <a:pt x="2058099" y="0"/>
                  </a:lnTo>
                  <a:cubicBezTo>
                    <a:pt x="2067326" y="0"/>
                    <a:pt x="2074806" y="7480"/>
                    <a:pt x="2074806" y="16707"/>
                  </a:cubicBezTo>
                  <a:lnTo>
                    <a:pt x="2074806" y="346989"/>
                  </a:lnTo>
                  <a:cubicBezTo>
                    <a:pt x="2074806" y="356216"/>
                    <a:pt x="2067326" y="363696"/>
                    <a:pt x="2058099" y="363696"/>
                  </a:cubicBezTo>
                  <a:lnTo>
                    <a:pt x="16707" y="363696"/>
                  </a:lnTo>
                  <a:cubicBezTo>
                    <a:pt x="7480" y="363696"/>
                    <a:pt x="0" y="356216"/>
                    <a:pt x="0" y="346989"/>
                  </a:cubicBezTo>
                  <a:lnTo>
                    <a:pt x="0" y="16707"/>
                  </a:lnTo>
                  <a:cubicBezTo>
                    <a:pt x="0" y="7480"/>
                    <a:pt x="7480" y="0"/>
                    <a:pt x="1670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4A5B">
                    <a:alpha val="10000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76200"/>
              <a:ext cx="2074806" cy="2874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19"/>
                </a:lnSpc>
              </a:pPr>
              <a:r>
                <a:rPr lang="en-US" sz="2976" i="true">
                  <a:solidFill>
                    <a:srgbClr val="FFFFFF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Lack of accessible reminder &amp; SOS tools.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09391" y="4780099"/>
            <a:ext cx="7765962" cy="1250727"/>
            <a:chOff x="0" y="0"/>
            <a:chExt cx="2045356" cy="3294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45356" cy="329410"/>
            </a:xfrm>
            <a:custGeom>
              <a:avLst/>
              <a:gdLst/>
              <a:ahLst/>
              <a:cxnLst/>
              <a:rect r="r" b="b" t="t" l="l"/>
              <a:pathLst>
                <a:path h="329410" w="2045356">
                  <a:moveTo>
                    <a:pt x="16947" y="0"/>
                  </a:moveTo>
                  <a:lnTo>
                    <a:pt x="2028409" y="0"/>
                  </a:lnTo>
                  <a:cubicBezTo>
                    <a:pt x="2037769" y="0"/>
                    <a:pt x="2045356" y="7588"/>
                    <a:pt x="2045356" y="16947"/>
                  </a:cubicBezTo>
                  <a:lnTo>
                    <a:pt x="2045356" y="312462"/>
                  </a:lnTo>
                  <a:cubicBezTo>
                    <a:pt x="2045356" y="321822"/>
                    <a:pt x="2037769" y="329410"/>
                    <a:pt x="2028409" y="329410"/>
                  </a:cubicBezTo>
                  <a:lnTo>
                    <a:pt x="16947" y="329410"/>
                  </a:lnTo>
                  <a:cubicBezTo>
                    <a:pt x="7588" y="329410"/>
                    <a:pt x="0" y="321822"/>
                    <a:pt x="0" y="312462"/>
                  </a:cubicBezTo>
                  <a:lnTo>
                    <a:pt x="0" y="16947"/>
                  </a:lnTo>
                  <a:cubicBezTo>
                    <a:pt x="0" y="7588"/>
                    <a:pt x="7588" y="0"/>
                    <a:pt x="1694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4A5B">
                    <a:alpha val="10000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76200"/>
              <a:ext cx="2045356" cy="253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19"/>
                </a:lnSpc>
              </a:pPr>
              <a:r>
                <a:rPr lang="en-US" sz="2976" i="true">
                  <a:solidFill>
                    <a:srgbClr val="FFFFFF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Dependence on others for navigation.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647161" y="3153187"/>
            <a:ext cx="7877777" cy="1213185"/>
            <a:chOff x="0" y="0"/>
            <a:chExt cx="2074806" cy="31952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74806" cy="319522"/>
            </a:xfrm>
            <a:custGeom>
              <a:avLst/>
              <a:gdLst/>
              <a:ahLst/>
              <a:cxnLst/>
              <a:rect r="r" b="b" t="t" l="l"/>
              <a:pathLst>
                <a:path h="319522" w="2074806">
                  <a:moveTo>
                    <a:pt x="16707" y="0"/>
                  </a:moveTo>
                  <a:lnTo>
                    <a:pt x="2058099" y="0"/>
                  </a:lnTo>
                  <a:cubicBezTo>
                    <a:pt x="2067326" y="0"/>
                    <a:pt x="2074806" y="7480"/>
                    <a:pt x="2074806" y="16707"/>
                  </a:cubicBezTo>
                  <a:lnTo>
                    <a:pt x="2074806" y="302815"/>
                  </a:lnTo>
                  <a:cubicBezTo>
                    <a:pt x="2074806" y="312042"/>
                    <a:pt x="2067326" y="319522"/>
                    <a:pt x="2058099" y="319522"/>
                  </a:cubicBezTo>
                  <a:lnTo>
                    <a:pt x="16707" y="319522"/>
                  </a:lnTo>
                  <a:cubicBezTo>
                    <a:pt x="7480" y="319522"/>
                    <a:pt x="0" y="312042"/>
                    <a:pt x="0" y="302815"/>
                  </a:cubicBezTo>
                  <a:lnTo>
                    <a:pt x="0" y="16707"/>
                  </a:lnTo>
                  <a:cubicBezTo>
                    <a:pt x="0" y="7480"/>
                    <a:pt x="7480" y="0"/>
                    <a:pt x="1670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4A5B">
                    <a:alpha val="10000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76200"/>
              <a:ext cx="2074806" cy="243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31"/>
                </a:lnSpc>
              </a:pPr>
              <a:r>
                <a:rPr lang="en-US" sz="2876" i="true">
                  <a:solidFill>
                    <a:srgbClr val="FFFFFF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Disorientation indoors (GPS fails).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600450"/>
            <a:ext cx="18288000" cy="6686550"/>
            <a:chOff x="0" y="0"/>
            <a:chExt cx="4816593" cy="17610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761067"/>
            </a:xfrm>
            <a:custGeom>
              <a:avLst/>
              <a:gdLst/>
              <a:ahLst/>
              <a:cxnLst/>
              <a:rect r="r" b="b" t="t" l="l"/>
              <a:pathLst>
                <a:path h="176106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61067"/>
                  </a:lnTo>
                  <a:lnTo>
                    <a:pt x="0" y="1761067"/>
                  </a:lnTo>
                  <a:close/>
                </a:path>
              </a:pathLst>
            </a:custGeom>
            <a:gradFill rotWithShape="true">
              <a:gsLst>
                <a:gs pos="0">
                  <a:srgbClr val="2D2E34">
                    <a:alpha val="0"/>
                  </a:srgbClr>
                </a:gs>
                <a:gs pos="100000">
                  <a:srgbClr val="2D2E3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816593" cy="1713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706788"/>
            <a:ext cx="16865599" cy="746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6"/>
              </a:lnSpc>
              <a:spcBef>
                <a:spcPct val="0"/>
              </a:spcBef>
            </a:pPr>
            <a:r>
              <a:rPr lang="en-US" b="true" sz="4376" i="true" u="sng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Research Objectives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11200" y="1834269"/>
            <a:ext cx="16865599" cy="1269093"/>
            <a:chOff x="0" y="0"/>
            <a:chExt cx="4441969" cy="3342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1968" cy="334247"/>
            </a:xfrm>
            <a:custGeom>
              <a:avLst/>
              <a:gdLst/>
              <a:ahLst/>
              <a:cxnLst/>
              <a:rect r="r" b="b" t="t" l="l"/>
              <a:pathLst>
                <a:path h="334247" w="4441968">
                  <a:moveTo>
                    <a:pt x="7804" y="0"/>
                  </a:moveTo>
                  <a:lnTo>
                    <a:pt x="4434165" y="0"/>
                  </a:lnTo>
                  <a:cubicBezTo>
                    <a:pt x="4438474" y="0"/>
                    <a:pt x="4441968" y="3494"/>
                    <a:pt x="4441968" y="7804"/>
                  </a:cubicBezTo>
                  <a:lnTo>
                    <a:pt x="4441968" y="326443"/>
                  </a:lnTo>
                  <a:cubicBezTo>
                    <a:pt x="4441968" y="328513"/>
                    <a:pt x="4441146" y="330498"/>
                    <a:pt x="4439683" y="331961"/>
                  </a:cubicBezTo>
                  <a:cubicBezTo>
                    <a:pt x="4438219" y="333425"/>
                    <a:pt x="4436234" y="334247"/>
                    <a:pt x="4434165" y="334247"/>
                  </a:cubicBezTo>
                  <a:lnTo>
                    <a:pt x="7804" y="334247"/>
                  </a:lnTo>
                  <a:cubicBezTo>
                    <a:pt x="5734" y="334247"/>
                    <a:pt x="3749" y="333425"/>
                    <a:pt x="2286" y="331961"/>
                  </a:cubicBezTo>
                  <a:cubicBezTo>
                    <a:pt x="822" y="330498"/>
                    <a:pt x="0" y="328513"/>
                    <a:pt x="0" y="326443"/>
                  </a:cubicBezTo>
                  <a:lnTo>
                    <a:pt x="0" y="7804"/>
                  </a:lnTo>
                  <a:cubicBezTo>
                    <a:pt x="0" y="5734"/>
                    <a:pt x="822" y="3749"/>
                    <a:pt x="2286" y="2286"/>
                  </a:cubicBezTo>
                  <a:cubicBezTo>
                    <a:pt x="3749" y="822"/>
                    <a:pt x="5734" y="0"/>
                    <a:pt x="7804" y="0"/>
                  </a:cubicBezTo>
                  <a:close/>
                </a:path>
              </a:pathLst>
            </a:custGeom>
            <a:solidFill>
              <a:srgbClr val="1E212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76200"/>
              <a:ext cx="4441969" cy="258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99395" indent="-299697" lvl="1">
                <a:lnSpc>
                  <a:spcPts val="2443"/>
                </a:lnSpc>
                <a:buFont typeface="Arial"/>
                <a:buChar char="•"/>
              </a:pPr>
              <a:r>
                <a:rPr lang="en-US" sz="27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Develop VR indoor routing without GPS/Bluetooth.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944305" y="1721092"/>
            <a:ext cx="1632494" cy="1632494"/>
          </a:xfrm>
          <a:custGeom>
            <a:avLst/>
            <a:gdLst/>
            <a:ahLst/>
            <a:cxnLst/>
            <a:rect r="r" b="b" t="t" l="l"/>
            <a:pathLst>
              <a:path h="1632494" w="1632494">
                <a:moveTo>
                  <a:pt x="0" y="0"/>
                </a:moveTo>
                <a:lnTo>
                  <a:pt x="1632495" y="0"/>
                </a:lnTo>
                <a:lnTo>
                  <a:pt x="1632495" y="1632494"/>
                </a:lnTo>
                <a:lnTo>
                  <a:pt x="0" y="16324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11200" y="3466763"/>
            <a:ext cx="16730556" cy="1235557"/>
            <a:chOff x="0" y="0"/>
            <a:chExt cx="4406402" cy="3254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06402" cy="325414"/>
            </a:xfrm>
            <a:custGeom>
              <a:avLst/>
              <a:gdLst/>
              <a:ahLst/>
              <a:cxnLst/>
              <a:rect r="r" b="b" t="t" l="l"/>
              <a:pathLst>
                <a:path h="325414" w="4406402">
                  <a:moveTo>
                    <a:pt x="7867" y="0"/>
                  </a:moveTo>
                  <a:lnTo>
                    <a:pt x="4398535" y="0"/>
                  </a:lnTo>
                  <a:cubicBezTo>
                    <a:pt x="4402880" y="0"/>
                    <a:pt x="4406402" y="3522"/>
                    <a:pt x="4406402" y="7867"/>
                  </a:cubicBezTo>
                  <a:lnTo>
                    <a:pt x="4406402" y="317547"/>
                  </a:lnTo>
                  <a:cubicBezTo>
                    <a:pt x="4406402" y="319634"/>
                    <a:pt x="4405573" y="321635"/>
                    <a:pt x="4404097" y="323110"/>
                  </a:cubicBezTo>
                  <a:cubicBezTo>
                    <a:pt x="4402622" y="324585"/>
                    <a:pt x="4400621" y="325414"/>
                    <a:pt x="4398535" y="325414"/>
                  </a:cubicBezTo>
                  <a:lnTo>
                    <a:pt x="7867" y="325414"/>
                  </a:lnTo>
                  <a:cubicBezTo>
                    <a:pt x="3522" y="325414"/>
                    <a:pt x="0" y="321892"/>
                    <a:pt x="0" y="317547"/>
                  </a:cubicBezTo>
                  <a:lnTo>
                    <a:pt x="0" y="7867"/>
                  </a:lnTo>
                  <a:cubicBezTo>
                    <a:pt x="0" y="5780"/>
                    <a:pt x="829" y="3779"/>
                    <a:pt x="2304" y="2304"/>
                  </a:cubicBezTo>
                  <a:cubicBezTo>
                    <a:pt x="3779" y="829"/>
                    <a:pt x="5780" y="0"/>
                    <a:pt x="7867" y="0"/>
                  </a:cubicBezTo>
                  <a:close/>
                </a:path>
              </a:pathLst>
            </a:custGeom>
            <a:solidFill>
              <a:srgbClr val="1E212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76200"/>
              <a:ext cx="4406402" cy="249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99395" indent="-299697" lvl="1">
                <a:lnSpc>
                  <a:spcPts val="2443"/>
                </a:lnSpc>
                <a:buFont typeface="Arial"/>
                <a:buChar char="•"/>
              </a:pPr>
              <a:r>
                <a:rPr lang="en-US" sz="27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Build an AI-powered object detection system.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5944305" y="3240409"/>
            <a:ext cx="1585262" cy="1461911"/>
          </a:xfrm>
          <a:custGeom>
            <a:avLst/>
            <a:gdLst/>
            <a:ahLst/>
            <a:cxnLst/>
            <a:rect r="r" b="b" t="t" l="l"/>
            <a:pathLst>
              <a:path h="1461911" w="1585262">
                <a:moveTo>
                  <a:pt x="0" y="0"/>
                </a:moveTo>
                <a:lnTo>
                  <a:pt x="1585263" y="0"/>
                </a:lnTo>
                <a:lnTo>
                  <a:pt x="1585263" y="1461911"/>
                </a:lnTo>
                <a:lnTo>
                  <a:pt x="0" y="14619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8437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711200" y="5064270"/>
            <a:ext cx="16730556" cy="1174714"/>
            <a:chOff x="0" y="0"/>
            <a:chExt cx="4406402" cy="3093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06402" cy="309390"/>
            </a:xfrm>
            <a:custGeom>
              <a:avLst/>
              <a:gdLst/>
              <a:ahLst/>
              <a:cxnLst/>
              <a:rect r="r" b="b" t="t" l="l"/>
              <a:pathLst>
                <a:path h="309390" w="4406402">
                  <a:moveTo>
                    <a:pt x="7867" y="0"/>
                  </a:moveTo>
                  <a:lnTo>
                    <a:pt x="4398535" y="0"/>
                  </a:lnTo>
                  <a:cubicBezTo>
                    <a:pt x="4402880" y="0"/>
                    <a:pt x="4406402" y="3522"/>
                    <a:pt x="4406402" y="7867"/>
                  </a:cubicBezTo>
                  <a:lnTo>
                    <a:pt x="4406402" y="301523"/>
                  </a:lnTo>
                  <a:cubicBezTo>
                    <a:pt x="4406402" y="303609"/>
                    <a:pt x="4405573" y="305610"/>
                    <a:pt x="4404097" y="307086"/>
                  </a:cubicBezTo>
                  <a:cubicBezTo>
                    <a:pt x="4402622" y="308561"/>
                    <a:pt x="4400621" y="309390"/>
                    <a:pt x="4398535" y="309390"/>
                  </a:cubicBezTo>
                  <a:lnTo>
                    <a:pt x="7867" y="309390"/>
                  </a:lnTo>
                  <a:cubicBezTo>
                    <a:pt x="3522" y="309390"/>
                    <a:pt x="0" y="305868"/>
                    <a:pt x="0" y="301523"/>
                  </a:cubicBezTo>
                  <a:lnTo>
                    <a:pt x="0" y="7867"/>
                  </a:lnTo>
                  <a:cubicBezTo>
                    <a:pt x="0" y="5780"/>
                    <a:pt x="829" y="3779"/>
                    <a:pt x="2304" y="2304"/>
                  </a:cubicBezTo>
                  <a:cubicBezTo>
                    <a:pt x="3779" y="829"/>
                    <a:pt x="5780" y="0"/>
                    <a:pt x="7867" y="0"/>
                  </a:cubicBezTo>
                  <a:close/>
                </a:path>
              </a:pathLst>
            </a:custGeom>
            <a:solidFill>
              <a:srgbClr val="1E212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76200"/>
              <a:ext cx="4406402" cy="233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99395" indent="-299697" lvl="1">
                <a:lnSpc>
                  <a:spcPts val="2443"/>
                </a:lnSpc>
                <a:buFont typeface="Arial"/>
                <a:buChar char="•"/>
              </a:pPr>
              <a:r>
                <a:rPr lang="en-US" sz="27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Enable gesture-based control (screenless navigation).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944305" y="4835670"/>
            <a:ext cx="1497451" cy="1497451"/>
          </a:xfrm>
          <a:custGeom>
            <a:avLst/>
            <a:gdLst/>
            <a:ahLst/>
            <a:cxnLst/>
            <a:rect r="r" b="b" t="t" l="l"/>
            <a:pathLst>
              <a:path h="1497451" w="1497451">
                <a:moveTo>
                  <a:pt x="0" y="0"/>
                </a:moveTo>
                <a:lnTo>
                  <a:pt x="1497451" y="0"/>
                </a:lnTo>
                <a:lnTo>
                  <a:pt x="1497451" y="1497451"/>
                </a:lnTo>
                <a:lnTo>
                  <a:pt x="0" y="14974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711200" y="6600934"/>
            <a:ext cx="16730556" cy="1241139"/>
            <a:chOff x="0" y="0"/>
            <a:chExt cx="4406402" cy="3268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06402" cy="326884"/>
            </a:xfrm>
            <a:custGeom>
              <a:avLst/>
              <a:gdLst/>
              <a:ahLst/>
              <a:cxnLst/>
              <a:rect r="r" b="b" t="t" l="l"/>
              <a:pathLst>
                <a:path h="326884" w="4406402">
                  <a:moveTo>
                    <a:pt x="7867" y="0"/>
                  </a:moveTo>
                  <a:lnTo>
                    <a:pt x="4398535" y="0"/>
                  </a:lnTo>
                  <a:cubicBezTo>
                    <a:pt x="4402880" y="0"/>
                    <a:pt x="4406402" y="3522"/>
                    <a:pt x="4406402" y="7867"/>
                  </a:cubicBezTo>
                  <a:lnTo>
                    <a:pt x="4406402" y="319018"/>
                  </a:lnTo>
                  <a:cubicBezTo>
                    <a:pt x="4406402" y="321104"/>
                    <a:pt x="4405573" y="323105"/>
                    <a:pt x="4404097" y="324580"/>
                  </a:cubicBezTo>
                  <a:cubicBezTo>
                    <a:pt x="4402622" y="326056"/>
                    <a:pt x="4400621" y="326884"/>
                    <a:pt x="4398535" y="326884"/>
                  </a:cubicBezTo>
                  <a:lnTo>
                    <a:pt x="7867" y="326884"/>
                  </a:lnTo>
                  <a:cubicBezTo>
                    <a:pt x="5780" y="326884"/>
                    <a:pt x="3779" y="326056"/>
                    <a:pt x="2304" y="324580"/>
                  </a:cubicBezTo>
                  <a:cubicBezTo>
                    <a:pt x="829" y="323105"/>
                    <a:pt x="0" y="321104"/>
                    <a:pt x="0" y="319018"/>
                  </a:cubicBezTo>
                  <a:lnTo>
                    <a:pt x="0" y="7867"/>
                  </a:lnTo>
                  <a:cubicBezTo>
                    <a:pt x="0" y="5780"/>
                    <a:pt x="829" y="3779"/>
                    <a:pt x="2304" y="2304"/>
                  </a:cubicBezTo>
                  <a:cubicBezTo>
                    <a:pt x="3779" y="829"/>
                    <a:pt x="5780" y="0"/>
                    <a:pt x="7867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76200"/>
              <a:ext cx="4406402" cy="250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99395" indent="-299697" lvl="1">
                <a:lnSpc>
                  <a:spcPts val="2443"/>
                </a:lnSpc>
                <a:buFont typeface="Arial"/>
                <a:buChar char="•"/>
              </a:pPr>
              <a:r>
                <a:rPr lang="en-US" sz="27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Add voice-controlled reminders &amp; SOS system.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5944305" y="6466471"/>
            <a:ext cx="1632494" cy="1632494"/>
          </a:xfrm>
          <a:custGeom>
            <a:avLst/>
            <a:gdLst/>
            <a:ahLst/>
            <a:cxnLst/>
            <a:rect r="r" b="b" t="t" l="l"/>
            <a:pathLst>
              <a:path h="1632494" w="1632494">
                <a:moveTo>
                  <a:pt x="0" y="0"/>
                </a:moveTo>
                <a:lnTo>
                  <a:pt x="1632495" y="0"/>
                </a:lnTo>
                <a:lnTo>
                  <a:pt x="1632495" y="1632494"/>
                </a:lnTo>
                <a:lnTo>
                  <a:pt x="0" y="16324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711200" y="8232315"/>
            <a:ext cx="16865599" cy="1365254"/>
            <a:chOff x="0" y="0"/>
            <a:chExt cx="4441969" cy="35957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441968" cy="359573"/>
            </a:xfrm>
            <a:custGeom>
              <a:avLst/>
              <a:gdLst/>
              <a:ahLst/>
              <a:cxnLst/>
              <a:rect r="r" b="b" t="t" l="l"/>
              <a:pathLst>
                <a:path h="359573" w="4441968">
                  <a:moveTo>
                    <a:pt x="7804" y="0"/>
                  </a:moveTo>
                  <a:lnTo>
                    <a:pt x="4434165" y="0"/>
                  </a:lnTo>
                  <a:cubicBezTo>
                    <a:pt x="4438474" y="0"/>
                    <a:pt x="4441968" y="3494"/>
                    <a:pt x="4441968" y="7804"/>
                  </a:cubicBezTo>
                  <a:lnTo>
                    <a:pt x="4441968" y="351769"/>
                  </a:lnTo>
                  <a:cubicBezTo>
                    <a:pt x="4441968" y="353839"/>
                    <a:pt x="4441146" y="355824"/>
                    <a:pt x="4439683" y="357287"/>
                  </a:cubicBezTo>
                  <a:cubicBezTo>
                    <a:pt x="4438219" y="358751"/>
                    <a:pt x="4436234" y="359573"/>
                    <a:pt x="4434165" y="359573"/>
                  </a:cubicBezTo>
                  <a:lnTo>
                    <a:pt x="7804" y="359573"/>
                  </a:lnTo>
                  <a:cubicBezTo>
                    <a:pt x="5734" y="359573"/>
                    <a:pt x="3749" y="358751"/>
                    <a:pt x="2286" y="357287"/>
                  </a:cubicBezTo>
                  <a:cubicBezTo>
                    <a:pt x="822" y="355824"/>
                    <a:pt x="0" y="353839"/>
                    <a:pt x="0" y="351769"/>
                  </a:cubicBezTo>
                  <a:lnTo>
                    <a:pt x="0" y="7804"/>
                  </a:lnTo>
                  <a:cubicBezTo>
                    <a:pt x="0" y="5734"/>
                    <a:pt x="822" y="3749"/>
                    <a:pt x="2286" y="2286"/>
                  </a:cubicBezTo>
                  <a:cubicBezTo>
                    <a:pt x="3749" y="822"/>
                    <a:pt x="5734" y="0"/>
                    <a:pt x="7804" y="0"/>
                  </a:cubicBezTo>
                  <a:close/>
                </a:path>
              </a:pathLst>
            </a:custGeom>
            <a:solidFill>
              <a:srgbClr val="1E2123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76200"/>
              <a:ext cx="4441969" cy="28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99395" indent="-299697" lvl="1">
                <a:lnSpc>
                  <a:spcPts val="2443"/>
                </a:lnSpc>
                <a:buFont typeface="Arial"/>
                <a:buChar char="•"/>
              </a:pPr>
              <a:r>
                <a:rPr lang="en-US" sz="27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Provide voice + vibration feedback for clarity.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5967921" y="8232315"/>
            <a:ext cx="1585262" cy="1585262"/>
          </a:xfrm>
          <a:custGeom>
            <a:avLst/>
            <a:gdLst/>
            <a:ahLst/>
            <a:cxnLst/>
            <a:rect r="r" b="b" t="t" l="l"/>
            <a:pathLst>
              <a:path h="1585262" w="1585262">
                <a:moveTo>
                  <a:pt x="0" y="0"/>
                </a:moveTo>
                <a:lnTo>
                  <a:pt x="1585263" y="0"/>
                </a:lnTo>
                <a:lnTo>
                  <a:pt x="1585263" y="1585263"/>
                </a:lnTo>
                <a:lnTo>
                  <a:pt x="0" y="15852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4000500" y="-4000500"/>
            <a:ext cx="10287000" cy="18288000"/>
            <a:chOff x="0" y="0"/>
            <a:chExt cx="2709333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816592"/>
            </a:xfrm>
            <a:custGeom>
              <a:avLst/>
              <a:gdLst/>
              <a:ahLst/>
              <a:cxnLst/>
              <a:rect r="r" b="b" t="t" l="l"/>
              <a:pathLst>
                <a:path h="4816592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2709333" cy="4768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59079" y="409507"/>
            <a:ext cx="11607005" cy="798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6"/>
              </a:lnSpc>
              <a:spcBef>
                <a:spcPct val="0"/>
              </a:spcBef>
            </a:pPr>
            <a:r>
              <a:rPr lang="en-US" b="true" sz="4576" i="true" u="sng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System Overview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42395" y="2035029"/>
            <a:ext cx="2361370" cy="4963698"/>
            <a:chOff x="0" y="0"/>
            <a:chExt cx="621925" cy="13073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1925" cy="1307311"/>
            </a:xfrm>
            <a:custGeom>
              <a:avLst/>
              <a:gdLst/>
              <a:ahLst/>
              <a:cxnLst/>
              <a:rect r="r" b="b" t="t" l="l"/>
              <a:pathLst>
                <a:path h="1307311" w="621925">
                  <a:moveTo>
                    <a:pt x="55736" y="0"/>
                  </a:moveTo>
                  <a:lnTo>
                    <a:pt x="566189" y="0"/>
                  </a:lnTo>
                  <a:cubicBezTo>
                    <a:pt x="580971" y="0"/>
                    <a:pt x="595147" y="5872"/>
                    <a:pt x="605600" y="16325"/>
                  </a:cubicBezTo>
                  <a:cubicBezTo>
                    <a:pt x="616052" y="26777"/>
                    <a:pt x="621925" y="40954"/>
                    <a:pt x="621925" y="55736"/>
                  </a:cubicBezTo>
                  <a:lnTo>
                    <a:pt x="621925" y="1251576"/>
                  </a:lnTo>
                  <a:cubicBezTo>
                    <a:pt x="621925" y="1282358"/>
                    <a:pt x="596971" y="1307311"/>
                    <a:pt x="566189" y="1307311"/>
                  </a:cubicBezTo>
                  <a:lnTo>
                    <a:pt x="55736" y="1307311"/>
                  </a:lnTo>
                  <a:cubicBezTo>
                    <a:pt x="24954" y="1307311"/>
                    <a:pt x="0" y="1282358"/>
                    <a:pt x="0" y="1251576"/>
                  </a:cubicBezTo>
                  <a:lnTo>
                    <a:pt x="0" y="55736"/>
                  </a:lnTo>
                  <a:cubicBezTo>
                    <a:pt x="0" y="24954"/>
                    <a:pt x="24954" y="0"/>
                    <a:pt x="5573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0"/>
              <a:ext cx="621925" cy="12120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795"/>
                </a:lnSpc>
              </a:pPr>
              <a:r>
                <a:rPr lang="en-US" b="true" sz="3176" i="true" u="sng">
                  <a:solidFill>
                    <a:srgbClr val="FFFFFF"/>
                  </a:solidFill>
                  <a:latin typeface="Inter Bold Italics"/>
                  <a:ea typeface="Inter Bold Italics"/>
                  <a:cs typeface="Inter Bold Italics"/>
                  <a:sym typeface="Inter Bold Italics"/>
                </a:rPr>
                <a:t>Flutter App</a:t>
              </a:r>
              <a:r>
                <a:rPr lang="en-US" sz="31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</a:p>
            <a:p>
              <a:pPr algn="l">
                <a:lnSpc>
                  <a:spcPts val="2795"/>
                </a:lnSpc>
              </a:pPr>
            </a:p>
            <a:p>
              <a:pPr algn="l">
                <a:lnSpc>
                  <a:spcPts val="2795"/>
                </a:lnSpc>
              </a:pPr>
            </a:p>
            <a:p>
              <a:pPr algn="l">
                <a:lnSpc>
                  <a:spcPts val="2795"/>
                </a:lnSpc>
              </a:pPr>
            </a:p>
            <a:p>
              <a:pPr algn="l">
                <a:lnSpc>
                  <a:spcPts val="2795"/>
                </a:lnSpc>
              </a:pPr>
            </a:p>
            <a:p>
              <a:pPr algn="l">
                <a:lnSpc>
                  <a:spcPts val="2795"/>
                </a:lnSpc>
              </a:pPr>
            </a:p>
            <a:p>
              <a:pPr algn="l">
                <a:lnSpc>
                  <a:spcPts val="2795"/>
                </a:lnSpc>
              </a:pPr>
            </a:p>
            <a:p>
              <a:pPr algn="l">
                <a:lnSpc>
                  <a:spcPts val="2795"/>
                </a:lnSpc>
              </a:pPr>
            </a:p>
            <a:p>
              <a:pPr algn="l">
                <a:lnSpc>
                  <a:spcPts val="2267"/>
                </a:lnSpc>
              </a:pPr>
              <a:r>
                <a:rPr lang="en-US" sz="25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Gestures voice </a:t>
              </a:r>
            </a:p>
            <a:p>
              <a:pPr algn="l">
                <a:lnSpc>
                  <a:spcPts val="2267"/>
                </a:lnSpc>
              </a:pPr>
              <a:r>
                <a:rPr lang="en-US" sz="25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Accessibility UI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184771" y="2035029"/>
            <a:ext cx="2361370" cy="4963698"/>
            <a:chOff x="0" y="0"/>
            <a:chExt cx="621925" cy="13073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1925" cy="1307311"/>
            </a:xfrm>
            <a:custGeom>
              <a:avLst/>
              <a:gdLst/>
              <a:ahLst/>
              <a:cxnLst/>
              <a:rect r="r" b="b" t="t" l="l"/>
              <a:pathLst>
                <a:path h="1307311" w="621925">
                  <a:moveTo>
                    <a:pt x="55736" y="0"/>
                  </a:moveTo>
                  <a:lnTo>
                    <a:pt x="566189" y="0"/>
                  </a:lnTo>
                  <a:cubicBezTo>
                    <a:pt x="580971" y="0"/>
                    <a:pt x="595147" y="5872"/>
                    <a:pt x="605600" y="16325"/>
                  </a:cubicBezTo>
                  <a:cubicBezTo>
                    <a:pt x="616052" y="26777"/>
                    <a:pt x="621925" y="40954"/>
                    <a:pt x="621925" y="55736"/>
                  </a:cubicBezTo>
                  <a:lnTo>
                    <a:pt x="621925" y="1251576"/>
                  </a:lnTo>
                  <a:cubicBezTo>
                    <a:pt x="621925" y="1282358"/>
                    <a:pt x="596971" y="1307311"/>
                    <a:pt x="566189" y="1307311"/>
                  </a:cubicBezTo>
                  <a:lnTo>
                    <a:pt x="55736" y="1307311"/>
                  </a:lnTo>
                  <a:cubicBezTo>
                    <a:pt x="24954" y="1307311"/>
                    <a:pt x="0" y="1282358"/>
                    <a:pt x="0" y="1251576"/>
                  </a:cubicBezTo>
                  <a:lnTo>
                    <a:pt x="0" y="55736"/>
                  </a:lnTo>
                  <a:cubicBezTo>
                    <a:pt x="0" y="24954"/>
                    <a:pt x="24954" y="0"/>
                    <a:pt x="5573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4A5B">
                    <a:alpha val="10000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76200"/>
              <a:ext cx="621925" cy="1231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31"/>
                </a:lnSpc>
              </a:pPr>
              <a:r>
                <a:rPr lang="en-US" b="true" sz="2876" i="true" u="sng">
                  <a:solidFill>
                    <a:srgbClr val="FFFFFF"/>
                  </a:solidFill>
                  <a:latin typeface="Inter Bold Italics"/>
                  <a:ea typeface="Inter Bold Italics"/>
                  <a:cs typeface="Inter Bold Italics"/>
                  <a:sym typeface="Inter Bold Italics"/>
                </a:rPr>
                <a:t>Flask Backend + YOLOv8 </a:t>
              </a:r>
            </a:p>
            <a:p>
              <a:pPr algn="l">
                <a:lnSpc>
                  <a:spcPts val="2531"/>
                </a:lnSpc>
              </a:pPr>
            </a:p>
            <a:p>
              <a:pPr algn="l">
                <a:lnSpc>
                  <a:spcPts val="2531"/>
                </a:lnSpc>
              </a:pPr>
            </a:p>
            <a:p>
              <a:pPr algn="l">
                <a:lnSpc>
                  <a:spcPts val="2531"/>
                </a:lnSpc>
              </a:pPr>
            </a:p>
            <a:p>
              <a:pPr algn="l">
                <a:lnSpc>
                  <a:spcPts val="2531"/>
                </a:lnSpc>
              </a:pPr>
            </a:p>
            <a:p>
              <a:pPr algn="l">
                <a:lnSpc>
                  <a:spcPts val="2531"/>
                </a:lnSpc>
              </a:pPr>
            </a:p>
            <a:p>
              <a:pPr algn="l">
                <a:lnSpc>
                  <a:spcPts val="2531"/>
                </a:lnSpc>
              </a:pPr>
            </a:p>
            <a:p>
              <a:pPr algn="l">
                <a:lnSpc>
                  <a:spcPts val="2531"/>
                </a:lnSpc>
              </a:pPr>
              <a:r>
                <a:rPr lang="en-US" sz="28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Real-time object detection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643379" y="2057400"/>
            <a:ext cx="2568963" cy="4941326"/>
            <a:chOff x="0" y="0"/>
            <a:chExt cx="676599" cy="13014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6599" cy="1301419"/>
            </a:xfrm>
            <a:custGeom>
              <a:avLst/>
              <a:gdLst/>
              <a:ahLst/>
              <a:cxnLst/>
              <a:rect r="r" b="b" t="t" l="l"/>
              <a:pathLst>
                <a:path h="1301419" w="676599">
                  <a:moveTo>
                    <a:pt x="51232" y="0"/>
                  </a:moveTo>
                  <a:lnTo>
                    <a:pt x="625368" y="0"/>
                  </a:lnTo>
                  <a:cubicBezTo>
                    <a:pt x="653662" y="0"/>
                    <a:pt x="676599" y="22937"/>
                    <a:pt x="676599" y="51232"/>
                  </a:cubicBezTo>
                  <a:lnTo>
                    <a:pt x="676599" y="1250187"/>
                  </a:lnTo>
                  <a:cubicBezTo>
                    <a:pt x="676599" y="1263775"/>
                    <a:pt x="671202" y="1276806"/>
                    <a:pt x="661594" y="1286414"/>
                  </a:cubicBezTo>
                  <a:cubicBezTo>
                    <a:pt x="651986" y="1296022"/>
                    <a:pt x="638955" y="1301419"/>
                    <a:pt x="625368" y="1301419"/>
                  </a:cubicBezTo>
                  <a:lnTo>
                    <a:pt x="51232" y="1301419"/>
                  </a:lnTo>
                  <a:cubicBezTo>
                    <a:pt x="22937" y="1301419"/>
                    <a:pt x="0" y="1278482"/>
                    <a:pt x="0" y="1250187"/>
                  </a:cubicBezTo>
                  <a:lnTo>
                    <a:pt x="0" y="51232"/>
                  </a:lnTo>
                  <a:cubicBezTo>
                    <a:pt x="0" y="22937"/>
                    <a:pt x="22937" y="0"/>
                    <a:pt x="5123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4A5B">
                    <a:alpha val="10000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76200"/>
              <a:ext cx="676599" cy="12252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443"/>
                </a:lnSpc>
              </a:pPr>
              <a:r>
                <a:rPr lang="en-US" b="true" sz="2776" i="true" u="sng">
                  <a:solidFill>
                    <a:srgbClr val="FFFFFF"/>
                  </a:solidFill>
                  <a:latin typeface="Inter Bold Italics"/>
                  <a:ea typeface="Inter Bold Italics"/>
                  <a:cs typeface="Inter Bold Italics"/>
                  <a:sym typeface="Inter Bold Italics"/>
                </a:rPr>
                <a:t>VR Indoor Navigation</a:t>
              </a:r>
            </a:p>
            <a:p>
              <a:pPr algn="l">
                <a:lnSpc>
                  <a:spcPts val="2443"/>
                </a:lnSpc>
              </a:pPr>
            </a:p>
            <a:p>
              <a:pPr algn="l">
                <a:lnSpc>
                  <a:spcPts val="2443"/>
                </a:lnSpc>
              </a:pPr>
            </a:p>
            <a:p>
              <a:pPr algn="l">
                <a:lnSpc>
                  <a:spcPts val="2443"/>
                </a:lnSpc>
              </a:pPr>
            </a:p>
            <a:p>
              <a:pPr algn="l">
                <a:lnSpc>
                  <a:spcPts val="2443"/>
                </a:lnSpc>
              </a:pPr>
            </a:p>
            <a:p>
              <a:pPr algn="l">
                <a:lnSpc>
                  <a:spcPts val="2443"/>
                </a:lnSpc>
              </a:pPr>
            </a:p>
            <a:p>
              <a:pPr algn="l">
                <a:lnSpc>
                  <a:spcPts val="2443"/>
                </a:lnSpc>
              </a:pPr>
            </a:p>
            <a:p>
              <a:pPr algn="l">
                <a:lnSpc>
                  <a:spcPts val="2443"/>
                </a:lnSpc>
              </a:pPr>
            </a:p>
            <a:p>
              <a:pPr algn="l">
                <a:lnSpc>
                  <a:spcPts val="2443"/>
                </a:lnSpc>
              </a:pPr>
              <a:r>
                <a:rPr lang="en-US" sz="27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Graph-based pathfinding</a:t>
              </a:r>
            </a:p>
            <a:p>
              <a:pPr algn="l">
                <a:lnSpc>
                  <a:spcPts val="244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145792" y="2057400"/>
            <a:ext cx="2489299" cy="4941326"/>
            <a:chOff x="0" y="0"/>
            <a:chExt cx="655618" cy="13014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55618" cy="1301419"/>
            </a:xfrm>
            <a:custGeom>
              <a:avLst/>
              <a:gdLst/>
              <a:ahLst/>
              <a:cxnLst/>
              <a:rect r="r" b="b" t="t" l="l"/>
              <a:pathLst>
                <a:path h="1301419" w="655618">
                  <a:moveTo>
                    <a:pt x="52871" y="0"/>
                  </a:moveTo>
                  <a:lnTo>
                    <a:pt x="602746" y="0"/>
                  </a:lnTo>
                  <a:cubicBezTo>
                    <a:pt x="616769" y="0"/>
                    <a:pt x="630217" y="5570"/>
                    <a:pt x="640132" y="15486"/>
                  </a:cubicBezTo>
                  <a:cubicBezTo>
                    <a:pt x="650047" y="25401"/>
                    <a:pt x="655618" y="38849"/>
                    <a:pt x="655618" y="52871"/>
                  </a:cubicBezTo>
                  <a:lnTo>
                    <a:pt x="655618" y="1248548"/>
                  </a:lnTo>
                  <a:cubicBezTo>
                    <a:pt x="655618" y="1262570"/>
                    <a:pt x="650047" y="1276018"/>
                    <a:pt x="640132" y="1285934"/>
                  </a:cubicBezTo>
                  <a:cubicBezTo>
                    <a:pt x="630217" y="1295849"/>
                    <a:pt x="616769" y="1301419"/>
                    <a:pt x="602746" y="1301419"/>
                  </a:cubicBezTo>
                  <a:lnTo>
                    <a:pt x="52871" y="1301419"/>
                  </a:lnTo>
                  <a:cubicBezTo>
                    <a:pt x="23671" y="1301419"/>
                    <a:pt x="0" y="1277748"/>
                    <a:pt x="0" y="1248548"/>
                  </a:cubicBezTo>
                  <a:lnTo>
                    <a:pt x="0" y="52871"/>
                  </a:lnTo>
                  <a:cubicBezTo>
                    <a:pt x="0" y="23671"/>
                    <a:pt x="23671" y="0"/>
                    <a:pt x="5287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4A5B">
                    <a:alpha val="10000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76200"/>
              <a:ext cx="655618" cy="12252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443"/>
                </a:lnSpc>
              </a:pPr>
              <a:r>
                <a:rPr lang="en-US" b="true" sz="2776" i="true" u="sng">
                  <a:solidFill>
                    <a:srgbClr val="FFFFFF"/>
                  </a:solidFill>
                  <a:latin typeface="Inter Bold Italics"/>
                  <a:ea typeface="Inter Bold Italics"/>
                  <a:cs typeface="Inter Bold Italics"/>
                  <a:sym typeface="Inter Bold Italics"/>
                </a:rPr>
                <a:t>Reminders System </a:t>
              </a:r>
            </a:p>
            <a:p>
              <a:pPr algn="l">
                <a:lnSpc>
                  <a:spcPts val="2443"/>
                </a:lnSpc>
              </a:pPr>
            </a:p>
            <a:p>
              <a:pPr algn="l">
                <a:lnSpc>
                  <a:spcPts val="2443"/>
                </a:lnSpc>
              </a:pPr>
            </a:p>
            <a:p>
              <a:pPr algn="l">
                <a:lnSpc>
                  <a:spcPts val="2443"/>
                </a:lnSpc>
              </a:pPr>
            </a:p>
            <a:p>
              <a:pPr algn="l">
                <a:lnSpc>
                  <a:spcPts val="2443"/>
                </a:lnSpc>
              </a:pPr>
            </a:p>
            <a:p>
              <a:pPr algn="l">
                <a:lnSpc>
                  <a:spcPts val="2443"/>
                </a:lnSpc>
              </a:pPr>
            </a:p>
            <a:p>
              <a:pPr algn="l">
                <a:lnSpc>
                  <a:spcPts val="2443"/>
                </a:lnSpc>
              </a:pPr>
            </a:p>
            <a:p>
              <a:pPr algn="l">
                <a:lnSpc>
                  <a:spcPts val="2443"/>
                </a:lnSpc>
              </a:pPr>
            </a:p>
            <a:p>
              <a:pPr algn="l">
                <a:lnSpc>
                  <a:spcPts val="2443"/>
                </a:lnSpc>
              </a:pPr>
              <a:r>
                <a:rPr lang="en-US" sz="27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Voice scheduling + alerts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564555" y="2057400"/>
            <a:ext cx="2694745" cy="4941326"/>
            <a:chOff x="0" y="0"/>
            <a:chExt cx="709727" cy="13014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9727" cy="1301419"/>
            </a:xfrm>
            <a:custGeom>
              <a:avLst/>
              <a:gdLst/>
              <a:ahLst/>
              <a:cxnLst/>
              <a:rect r="r" b="b" t="t" l="l"/>
              <a:pathLst>
                <a:path h="1301419" w="709727">
                  <a:moveTo>
                    <a:pt x="48840" y="0"/>
                  </a:moveTo>
                  <a:lnTo>
                    <a:pt x="660887" y="0"/>
                  </a:lnTo>
                  <a:cubicBezTo>
                    <a:pt x="673840" y="0"/>
                    <a:pt x="686263" y="5146"/>
                    <a:pt x="695422" y="14305"/>
                  </a:cubicBezTo>
                  <a:cubicBezTo>
                    <a:pt x="704581" y="23464"/>
                    <a:pt x="709727" y="35887"/>
                    <a:pt x="709727" y="48840"/>
                  </a:cubicBezTo>
                  <a:lnTo>
                    <a:pt x="709727" y="1252579"/>
                  </a:lnTo>
                  <a:cubicBezTo>
                    <a:pt x="709727" y="1265532"/>
                    <a:pt x="704581" y="1277955"/>
                    <a:pt x="695422" y="1287114"/>
                  </a:cubicBezTo>
                  <a:cubicBezTo>
                    <a:pt x="686263" y="1296274"/>
                    <a:pt x="673840" y="1301419"/>
                    <a:pt x="660887" y="1301419"/>
                  </a:cubicBezTo>
                  <a:lnTo>
                    <a:pt x="48840" y="1301419"/>
                  </a:lnTo>
                  <a:cubicBezTo>
                    <a:pt x="21867" y="1301419"/>
                    <a:pt x="0" y="1279553"/>
                    <a:pt x="0" y="1252579"/>
                  </a:cubicBezTo>
                  <a:lnTo>
                    <a:pt x="0" y="48840"/>
                  </a:lnTo>
                  <a:cubicBezTo>
                    <a:pt x="0" y="35887"/>
                    <a:pt x="5146" y="23464"/>
                    <a:pt x="14305" y="14305"/>
                  </a:cubicBezTo>
                  <a:cubicBezTo>
                    <a:pt x="23464" y="5146"/>
                    <a:pt x="35887" y="0"/>
                    <a:pt x="4884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4A5B">
                    <a:alpha val="10000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76200"/>
              <a:ext cx="709727" cy="12252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443"/>
                </a:lnSpc>
              </a:pPr>
              <a:r>
                <a:rPr lang="en-US" b="true" sz="2776" i="true" u="sng">
                  <a:solidFill>
                    <a:srgbClr val="FFFFFF"/>
                  </a:solidFill>
                  <a:latin typeface="Inter Bold Italics"/>
                  <a:ea typeface="Inter Bold Italics"/>
                  <a:cs typeface="Inter Bold Italics"/>
                  <a:sym typeface="Inter Bold Italics"/>
                </a:rPr>
                <a:t>SOS Feature</a:t>
              </a:r>
              <a:r>
                <a:rPr lang="en-US" sz="27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</a:p>
            <a:p>
              <a:pPr algn="l">
                <a:lnSpc>
                  <a:spcPts val="2443"/>
                </a:lnSpc>
              </a:pPr>
            </a:p>
            <a:p>
              <a:pPr algn="l">
                <a:lnSpc>
                  <a:spcPts val="2443"/>
                </a:lnSpc>
              </a:pPr>
            </a:p>
            <a:p>
              <a:pPr algn="l">
                <a:lnSpc>
                  <a:spcPts val="2443"/>
                </a:lnSpc>
              </a:pPr>
            </a:p>
            <a:p>
              <a:pPr algn="l">
                <a:lnSpc>
                  <a:spcPts val="2443"/>
                </a:lnSpc>
              </a:pPr>
            </a:p>
            <a:p>
              <a:pPr algn="l">
                <a:lnSpc>
                  <a:spcPts val="2443"/>
                </a:lnSpc>
              </a:pPr>
            </a:p>
            <a:p>
              <a:pPr algn="l">
                <a:lnSpc>
                  <a:spcPts val="2443"/>
                </a:lnSpc>
              </a:pPr>
            </a:p>
            <a:p>
              <a:pPr algn="l">
                <a:lnSpc>
                  <a:spcPts val="2443"/>
                </a:lnSpc>
              </a:pPr>
            </a:p>
            <a:p>
              <a:pPr algn="l">
                <a:lnSpc>
                  <a:spcPts val="2443"/>
                </a:lnSpc>
              </a:pPr>
              <a:r>
                <a:rPr lang="en-US" sz="27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Long press for instant SMS + call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00743" y="1028700"/>
            <a:ext cx="9887257" cy="6938727"/>
          </a:xfrm>
          <a:custGeom>
            <a:avLst/>
            <a:gdLst/>
            <a:ahLst/>
            <a:cxnLst/>
            <a:rect r="r" b="b" t="t" l="l"/>
            <a:pathLst>
              <a:path h="6938727" w="9887257">
                <a:moveTo>
                  <a:pt x="0" y="0"/>
                </a:moveTo>
                <a:lnTo>
                  <a:pt x="9887257" y="0"/>
                </a:lnTo>
                <a:lnTo>
                  <a:pt x="9887257" y="6938727"/>
                </a:lnTo>
                <a:lnTo>
                  <a:pt x="0" y="69387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5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8202" y="321383"/>
            <a:ext cx="17759798" cy="880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6"/>
              </a:lnSpc>
              <a:spcBef>
                <a:spcPct val="0"/>
              </a:spcBef>
            </a:pPr>
            <a:r>
              <a:rPr lang="en-US" b="true" sz="5076" i="true" u="sng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Architecture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400743" y="8268760"/>
            <a:ext cx="9498427" cy="1492725"/>
            <a:chOff x="0" y="0"/>
            <a:chExt cx="2501643" cy="3931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01643" cy="393146"/>
            </a:xfrm>
            <a:custGeom>
              <a:avLst/>
              <a:gdLst/>
              <a:ahLst/>
              <a:cxnLst/>
              <a:rect r="r" b="b" t="t" l="l"/>
              <a:pathLst>
                <a:path h="393146" w="2501643">
                  <a:moveTo>
                    <a:pt x="13856" y="0"/>
                  </a:moveTo>
                  <a:lnTo>
                    <a:pt x="2487787" y="0"/>
                  </a:lnTo>
                  <a:cubicBezTo>
                    <a:pt x="2495440" y="0"/>
                    <a:pt x="2501643" y="6204"/>
                    <a:pt x="2501643" y="13856"/>
                  </a:cubicBezTo>
                  <a:lnTo>
                    <a:pt x="2501643" y="379289"/>
                  </a:lnTo>
                  <a:cubicBezTo>
                    <a:pt x="2501643" y="386942"/>
                    <a:pt x="2495440" y="393146"/>
                    <a:pt x="2487787" y="393146"/>
                  </a:cubicBezTo>
                  <a:lnTo>
                    <a:pt x="13856" y="393146"/>
                  </a:lnTo>
                  <a:cubicBezTo>
                    <a:pt x="6204" y="393146"/>
                    <a:pt x="0" y="386942"/>
                    <a:pt x="0" y="379289"/>
                  </a:cubicBezTo>
                  <a:lnTo>
                    <a:pt x="0" y="13856"/>
                  </a:lnTo>
                  <a:cubicBezTo>
                    <a:pt x="0" y="6204"/>
                    <a:pt x="6204" y="0"/>
                    <a:pt x="138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104775"/>
              <a:ext cx="2501643" cy="288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750521" indent="-375260" lvl="1">
                <a:lnSpc>
                  <a:spcPts val="3059"/>
                </a:lnSpc>
                <a:buFont typeface="Arial"/>
                <a:buChar char="•"/>
              </a:pPr>
              <a:r>
                <a:rPr lang="en-US" b="true" sz="3476" i="true">
                  <a:solidFill>
                    <a:srgbClr val="FFFFFF"/>
                  </a:solidFill>
                  <a:latin typeface="Inter Bold Italics"/>
                  <a:ea typeface="Inter Bold Italics"/>
                  <a:cs typeface="Inter Bold Italics"/>
                  <a:sym typeface="Inter Bold Italics"/>
                </a:rPr>
                <a:t>GCU-EYE System Architecture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28202" y="1782529"/>
            <a:ext cx="7586686" cy="1520679"/>
            <a:chOff x="0" y="0"/>
            <a:chExt cx="1998140" cy="4005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98140" cy="400508"/>
            </a:xfrm>
            <a:custGeom>
              <a:avLst/>
              <a:gdLst/>
              <a:ahLst/>
              <a:cxnLst/>
              <a:rect r="r" b="b" t="t" l="l"/>
              <a:pathLst>
                <a:path h="400508" w="1998140">
                  <a:moveTo>
                    <a:pt x="17348" y="0"/>
                  </a:moveTo>
                  <a:lnTo>
                    <a:pt x="1980792" y="0"/>
                  </a:lnTo>
                  <a:cubicBezTo>
                    <a:pt x="1985393" y="0"/>
                    <a:pt x="1989805" y="1828"/>
                    <a:pt x="1993059" y="5081"/>
                  </a:cubicBezTo>
                  <a:cubicBezTo>
                    <a:pt x="1996312" y="8334"/>
                    <a:pt x="1998140" y="12747"/>
                    <a:pt x="1998140" y="17348"/>
                  </a:cubicBezTo>
                  <a:lnTo>
                    <a:pt x="1998140" y="383160"/>
                  </a:lnTo>
                  <a:cubicBezTo>
                    <a:pt x="1998140" y="387761"/>
                    <a:pt x="1996312" y="392174"/>
                    <a:pt x="1993059" y="395427"/>
                  </a:cubicBezTo>
                  <a:cubicBezTo>
                    <a:pt x="1989805" y="398680"/>
                    <a:pt x="1985393" y="400508"/>
                    <a:pt x="1980792" y="400508"/>
                  </a:cubicBezTo>
                  <a:lnTo>
                    <a:pt x="17348" y="400508"/>
                  </a:lnTo>
                  <a:cubicBezTo>
                    <a:pt x="12747" y="400508"/>
                    <a:pt x="8334" y="398680"/>
                    <a:pt x="5081" y="395427"/>
                  </a:cubicBezTo>
                  <a:cubicBezTo>
                    <a:pt x="1828" y="392174"/>
                    <a:pt x="0" y="387761"/>
                    <a:pt x="0" y="383160"/>
                  </a:cubicBezTo>
                  <a:lnTo>
                    <a:pt x="0" y="17348"/>
                  </a:lnTo>
                  <a:cubicBezTo>
                    <a:pt x="0" y="12747"/>
                    <a:pt x="1828" y="8334"/>
                    <a:pt x="5081" y="5081"/>
                  </a:cubicBezTo>
                  <a:cubicBezTo>
                    <a:pt x="8334" y="1828"/>
                    <a:pt x="12747" y="0"/>
                    <a:pt x="17348" y="0"/>
                  </a:cubicBezTo>
                  <a:close/>
                </a:path>
              </a:pathLst>
            </a:custGeom>
            <a:solidFill>
              <a:srgbClr val="1E343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76200"/>
              <a:ext cx="1998140" cy="324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5"/>
                </a:lnSpc>
              </a:pPr>
              <a:r>
                <a:rPr lang="en-US" b="true" sz="2676" i="true" u="sng">
                  <a:solidFill>
                    <a:srgbClr val="FFFFFF"/>
                  </a:solidFill>
                  <a:latin typeface="Inter Bold Italics"/>
                  <a:ea typeface="Inter Bold Italics"/>
                  <a:cs typeface="Inter Bold Italics"/>
                  <a:sym typeface="Inter Bold Italics"/>
                </a:rPr>
                <a:t>Perception Layer</a:t>
              </a:r>
              <a:r>
                <a:rPr lang="en-US" sz="26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– Camera + YOLOv8 (Flask)</a:t>
              </a:r>
            </a:p>
            <a:p>
              <a:pPr algn="ctr">
                <a:lnSpc>
                  <a:spcPts val="235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28202" y="3627057"/>
            <a:ext cx="7586686" cy="1520679"/>
            <a:chOff x="0" y="0"/>
            <a:chExt cx="1998140" cy="4005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98140" cy="400508"/>
            </a:xfrm>
            <a:custGeom>
              <a:avLst/>
              <a:gdLst/>
              <a:ahLst/>
              <a:cxnLst/>
              <a:rect r="r" b="b" t="t" l="l"/>
              <a:pathLst>
                <a:path h="400508" w="1998140">
                  <a:moveTo>
                    <a:pt x="17348" y="0"/>
                  </a:moveTo>
                  <a:lnTo>
                    <a:pt x="1980792" y="0"/>
                  </a:lnTo>
                  <a:cubicBezTo>
                    <a:pt x="1985393" y="0"/>
                    <a:pt x="1989805" y="1828"/>
                    <a:pt x="1993059" y="5081"/>
                  </a:cubicBezTo>
                  <a:cubicBezTo>
                    <a:pt x="1996312" y="8334"/>
                    <a:pt x="1998140" y="12747"/>
                    <a:pt x="1998140" y="17348"/>
                  </a:cubicBezTo>
                  <a:lnTo>
                    <a:pt x="1998140" y="383160"/>
                  </a:lnTo>
                  <a:cubicBezTo>
                    <a:pt x="1998140" y="387761"/>
                    <a:pt x="1996312" y="392174"/>
                    <a:pt x="1993059" y="395427"/>
                  </a:cubicBezTo>
                  <a:cubicBezTo>
                    <a:pt x="1989805" y="398680"/>
                    <a:pt x="1985393" y="400508"/>
                    <a:pt x="1980792" y="400508"/>
                  </a:cubicBezTo>
                  <a:lnTo>
                    <a:pt x="17348" y="400508"/>
                  </a:lnTo>
                  <a:cubicBezTo>
                    <a:pt x="12747" y="400508"/>
                    <a:pt x="8334" y="398680"/>
                    <a:pt x="5081" y="395427"/>
                  </a:cubicBezTo>
                  <a:cubicBezTo>
                    <a:pt x="1828" y="392174"/>
                    <a:pt x="0" y="387761"/>
                    <a:pt x="0" y="383160"/>
                  </a:cubicBezTo>
                  <a:lnTo>
                    <a:pt x="0" y="17348"/>
                  </a:lnTo>
                  <a:cubicBezTo>
                    <a:pt x="0" y="12747"/>
                    <a:pt x="1828" y="8334"/>
                    <a:pt x="5081" y="5081"/>
                  </a:cubicBezTo>
                  <a:cubicBezTo>
                    <a:pt x="8334" y="1828"/>
                    <a:pt x="12747" y="0"/>
                    <a:pt x="17348" y="0"/>
                  </a:cubicBezTo>
                  <a:close/>
                </a:path>
              </a:pathLst>
            </a:custGeom>
            <a:solidFill>
              <a:srgbClr val="1E343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66675"/>
              <a:ext cx="1998140" cy="333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1"/>
                </a:lnSpc>
              </a:pPr>
              <a:r>
                <a:rPr lang="en-US" b="true" sz="2376" i="true" u="sng">
                  <a:solidFill>
                    <a:srgbClr val="FFFFFF"/>
                  </a:solidFill>
                  <a:latin typeface="Inter Bold Italics"/>
                  <a:ea typeface="Inter Bold Italics"/>
                  <a:cs typeface="Inter Bold Italics"/>
                  <a:sym typeface="Inter Bold Italics"/>
                </a:rPr>
                <a:t>Interaction Layer</a:t>
              </a:r>
              <a:r>
                <a:rPr lang="en-US" sz="23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– Gestures, TTS, Haptics (Flutter)</a:t>
              </a:r>
            </a:p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28202" y="5471586"/>
            <a:ext cx="7586686" cy="1520679"/>
            <a:chOff x="0" y="0"/>
            <a:chExt cx="1998140" cy="4005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98140" cy="400508"/>
            </a:xfrm>
            <a:custGeom>
              <a:avLst/>
              <a:gdLst/>
              <a:ahLst/>
              <a:cxnLst/>
              <a:rect r="r" b="b" t="t" l="l"/>
              <a:pathLst>
                <a:path h="400508" w="1998140">
                  <a:moveTo>
                    <a:pt x="17348" y="0"/>
                  </a:moveTo>
                  <a:lnTo>
                    <a:pt x="1980792" y="0"/>
                  </a:lnTo>
                  <a:cubicBezTo>
                    <a:pt x="1985393" y="0"/>
                    <a:pt x="1989805" y="1828"/>
                    <a:pt x="1993059" y="5081"/>
                  </a:cubicBezTo>
                  <a:cubicBezTo>
                    <a:pt x="1996312" y="8334"/>
                    <a:pt x="1998140" y="12747"/>
                    <a:pt x="1998140" y="17348"/>
                  </a:cubicBezTo>
                  <a:lnTo>
                    <a:pt x="1998140" y="383160"/>
                  </a:lnTo>
                  <a:cubicBezTo>
                    <a:pt x="1998140" y="387761"/>
                    <a:pt x="1996312" y="392174"/>
                    <a:pt x="1993059" y="395427"/>
                  </a:cubicBezTo>
                  <a:cubicBezTo>
                    <a:pt x="1989805" y="398680"/>
                    <a:pt x="1985393" y="400508"/>
                    <a:pt x="1980792" y="400508"/>
                  </a:cubicBezTo>
                  <a:lnTo>
                    <a:pt x="17348" y="400508"/>
                  </a:lnTo>
                  <a:cubicBezTo>
                    <a:pt x="12747" y="400508"/>
                    <a:pt x="8334" y="398680"/>
                    <a:pt x="5081" y="395427"/>
                  </a:cubicBezTo>
                  <a:cubicBezTo>
                    <a:pt x="1828" y="392174"/>
                    <a:pt x="0" y="387761"/>
                    <a:pt x="0" y="383160"/>
                  </a:cubicBezTo>
                  <a:lnTo>
                    <a:pt x="0" y="17348"/>
                  </a:lnTo>
                  <a:cubicBezTo>
                    <a:pt x="0" y="12747"/>
                    <a:pt x="1828" y="8334"/>
                    <a:pt x="5081" y="5081"/>
                  </a:cubicBezTo>
                  <a:cubicBezTo>
                    <a:pt x="8334" y="1828"/>
                    <a:pt x="12747" y="0"/>
                    <a:pt x="17348" y="0"/>
                  </a:cubicBezTo>
                  <a:close/>
                </a:path>
              </a:pathLst>
            </a:custGeom>
            <a:solidFill>
              <a:srgbClr val="1E343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47625"/>
              <a:ext cx="1998140" cy="352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9"/>
                </a:lnSpc>
              </a:pPr>
              <a:r>
                <a:rPr lang="en-US" b="true" sz="1976" i="true" u="sng">
                  <a:solidFill>
                    <a:srgbClr val="FFFFFF"/>
                  </a:solidFill>
                  <a:latin typeface="Inter Bold Italics"/>
                  <a:ea typeface="Inter Bold Italics"/>
                  <a:cs typeface="Inter Bold Italics"/>
                  <a:sym typeface="Inter Bold Italics"/>
                </a:rPr>
                <a:t>Intelligence Layer</a:t>
              </a:r>
              <a:r>
                <a:rPr lang="en-US" sz="19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– JSON → Direction mapping → Feedback</a:t>
              </a:r>
            </a:p>
            <a:p>
              <a:pPr algn="ctr">
                <a:lnSpc>
                  <a:spcPts val="1387"/>
                </a:lnSpc>
              </a:pPr>
            </a:p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28202" y="7316115"/>
            <a:ext cx="7586686" cy="1520679"/>
            <a:chOff x="0" y="0"/>
            <a:chExt cx="1998140" cy="4005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98140" cy="400508"/>
            </a:xfrm>
            <a:custGeom>
              <a:avLst/>
              <a:gdLst/>
              <a:ahLst/>
              <a:cxnLst/>
              <a:rect r="r" b="b" t="t" l="l"/>
              <a:pathLst>
                <a:path h="400508" w="1998140">
                  <a:moveTo>
                    <a:pt x="17348" y="0"/>
                  </a:moveTo>
                  <a:lnTo>
                    <a:pt x="1980792" y="0"/>
                  </a:lnTo>
                  <a:cubicBezTo>
                    <a:pt x="1985393" y="0"/>
                    <a:pt x="1989805" y="1828"/>
                    <a:pt x="1993059" y="5081"/>
                  </a:cubicBezTo>
                  <a:cubicBezTo>
                    <a:pt x="1996312" y="8334"/>
                    <a:pt x="1998140" y="12747"/>
                    <a:pt x="1998140" y="17348"/>
                  </a:cubicBezTo>
                  <a:lnTo>
                    <a:pt x="1998140" y="383160"/>
                  </a:lnTo>
                  <a:cubicBezTo>
                    <a:pt x="1998140" y="387761"/>
                    <a:pt x="1996312" y="392174"/>
                    <a:pt x="1993059" y="395427"/>
                  </a:cubicBezTo>
                  <a:cubicBezTo>
                    <a:pt x="1989805" y="398680"/>
                    <a:pt x="1985393" y="400508"/>
                    <a:pt x="1980792" y="400508"/>
                  </a:cubicBezTo>
                  <a:lnTo>
                    <a:pt x="17348" y="400508"/>
                  </a:lnTo>
                  <a:cubicBezTo>
                    <a:pt x="12747" y="400508"/>
                    <a:pt x="8334" y="398680"/>
                    <a:pt x="5081" y="395427"/>
                  </a:cubicBezTo>
                  <a:cubicBezTo>
                    <a:pt x="1828" y="392174"/>
                    <a:pt x="0" y="387761"/>
                    <a:pt x="0" y="383160"/>
                  </a:cubicBezTo>
                  <a:lnTo>
                    <a:pt x="0" y="17348"/>
                  </a:lnTo>
                  <a:cubicBezTo>
                    <a:pt x="0" y="12747"/>
                    <a:pt x="1828" y="8334"/>
                    <a:pt x="5081" y="5081"/>
                  </a:cubicBezTo>
                  <a:cubicBezTo>
                    <a:pt x="8334" y="1828"/>
                    <a:pt x="12747" y="0"/>
                    <a:pt x="17348" y="0"/>
                  </a:cubicBezTo>
                  <a:close/>
                </a:path>
              </a:pathLst>
            </a:custGeom>
            <a:solidFill>
              <a:srgbClr val="1E343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66675"/>
              <a:ext cx="1998140" cy="333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091"/>
                </a:lnSpc>
              </a:pPr>
              <a:r>
                <a:rPr lang="en-US" b="true" sz="2376" i="true" u="sng">
                  <a:solidFill>
                    <a:srgbClr val="FFFFFF"/>
                  </a:solidFill>
                  <a:latin typeface="Inter Bold Italics"/>
                  <a:ea typeface="Inter Bold Italics"/>
                  <a:cs typeface="Inter Bold Italics"/>
                  <a:sym typeface="Inter Bold Italics"/>
                </a:rPr>
                <a:t>Offline VR Navigation</a:t>
              </a:r>
              <a:r>
                <a:rPr lang="en-US" sz="23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– Dijkstra Algorithm</a:t>
              </a:r>
            </a:p>
            <a:p>
              <a:pPr algn="ctr">
                <a:lnSpc>
                  <a:spcPts val="1387"/>
                </a:lnSpc>
              </a:pPr>
            </a:p>
            <a:p>
              <a:pPr algn="ctr">
                <a:lnSpc>
                  <a:spcPts val="1387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66153" y="1428428"/>
            <a:ext cx="6142307" cy="6371213"/>
          </a:xfrm>
          <a:custGeom>
            <a:avLst/>
            <a:gdLst/>
            <a:ahLst/>
            <a:cxnLst/>
            <a:rect r="r" b="b" t="t" l="l"/>
            <a:pathLst>
              <a:path h="6371213" w="6142307">
                <a:moveTo>
                  <a:pt x="0" y="0"/>
                </a:moveTo>
                <a:lnTo>
                  <a:pt x="6142307" y="0"/>
                </a:lnTo>
                <a:lnTo>
                  <a:pt x="6142307" y="6371213"/>
                </a:lnTo>
                <a:lnTo>
                  <a:pt x="0" y="63712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9540" y="266096"/>
            <a:ext cx="17728921" cy="762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6"/>
              </a:lnSpc>
              <a:spcBef>
                <a:spcPct val="0"/>
              </a:spcBef>
            </a:pPr>
            <a:r>
              <a:rPr lang="en-US" b="true" sz="4476" i="true" u="sng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Data Model &amp; Training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866153" y="8199691"/>
            <a:ext cx="6142307" cy="1380909"/>
            <a:chOff x="0" y="0"/>
            <a:chExt cx="1617727" cy="3636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17727" cy="363696"/>
            </a:xfrm>
            <a:custGeom>
              <a:avLst/>
              <a:gdLst/>
              <a:ahLst/>
              <a:cxnLst/>
              <a:rect r="r" b="b" t="t" l="l"/>
              <a:pathLst>
                <a:path h="363696" w="1617727">
                  <a:moveTo>
                    <a:pt x="21427" y="0"/>
                  </a:moveTo>
                  <a:lnTo>
                    <a:pt x="1596300" y="0"/>
                  </a:lnTo>
                  <a:cubicBezTo>
                    <a:pt x="1601983" y="0"/>
                    <a:pt x="1607433" y="2258"/>
                    <a:pt x="1611451" y="6276"/>
                  </a:cubicBezTo>
                  <a:cubicBezTo>
                    <a:pt x="1615470" y="10294"/>
                    <a:pt x="1617727" y="15744"/>
                    <a:pt x="1617727" y="21427"/>
                  </a:cubicBezTo>
                  <a:lnTo>
                    <a:pt x="1617727" y="342269"/>
                  </a:lnTo>
                  <a:cubicBezTo>
                    <a:pt x="1617727" y="354103"/>
                    <a:pt x="1608134" y="363696"/>
                    <a:pt x="1596300" y="363696"/>
                  </a:cubicBezTo>
                  <a:lnTo>
                    <a:pt x="21427" y="363696"/>
                  </a:lnTo>
                  <a:cubicBezTo>
                    <a:pt x="15744" y="363696"/>
                    <a:pt x="10294" y="361439"/>
                    <a:pt x="6276" y="357420"/>
                  </a:cubicBezTo>
                  <a:cubicBezTo>
                    <a:pt x="2258" y="353402"/>
                    <a:pt x="0" y="347952"/>
                    <a:pt x="0" y="342269"/>
                  </a:cubicBezTo>
                  <a:lnTo>
                    <a:pt x="0" y="21427"/>
                  </a:lnTo>
                  <a:cubicBezTo>
                    <a:pt x="0" y="15744"/>
                    <a:pt x="2258" y="10294"/>
                    <a:pt x="6276" y="6276"/>
                  </a:cubicBezTo>
                  <a:cubicBezTo>
                    <a:pt x="10294" y="2258"/>
                    <a:pt x="15744" y="0"/>
                    <a:pt x="2142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76200"/>
              <a:ext cx="1617727" cy="2874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642573" indent="-321287" lvl="1">
                <a:lnSpc>
                  <a:spcPts val="2619"/>
                </a:lnSpc>
                <a:buFont typeface="Arial"/>
                <a:buChar char="•"/>
              </a:pPr>
              <a:r>
                <a:rPr lang="en-US" b="true" sz="2976" i="true" u="sng">
                  <a:solidFill>
                    <a:srgbClr val="FFFFFF"/>
                  </a:solidFill>
                  <a:latin typeface="Inter Bold Italics"/>
                  <a:ea typeface="Inter Bold Italics"/>
                  <a:cs typeface="Inter Bold Italics"/>
                  <a:sym typeface="Inter Bold Italics"/>
                </a:rPr>
                <a:t>Model Training Pipeline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79540" y="2030651"/>
            <a:ext cx="11085839" cy="5847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9158" indent="-329579" lvl="1">
              <a:lnSpc>
                <a:spcPts val="4274"/>
              </a:lnSpc>
              <a:buFont typeface="Arial"/>
              <a:buChar char="•"/>
            </a:pPr>
            <a:r>
              <a:rPr lang="en-US" b="true" sz="3053" i="true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Model Used: </a:t>
            </a:r>
            <a:r>
              <a:rPr lang="en-US" sz="305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YOLOv8 (lightweight version for real-time use).</a:t>
            </a:r>
          </a:p>
          <a:p>
            <a:pPr algn="l" marL="659158" indent="-329579" lvl="1">
              <a:lnSpc>
                <a:spcPts val="4274"/>
              </a:lnSpc>
              <a:buFont typeface="Arial"/>
              <a:buChar char="•"/>
            </a:pPr>
            <a:r>
              <a:rPr lang="en-US" b="true" sz="305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Dataset:</a:t>
            </a:r>
            <a:r>
              <a:rPr lang="en-US" sz="305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Custom campus-specific images (stairs, chairs, bags, people, obstacles).</a:t>
            </a:r>
          </a:p>
          <a:p>
            <a:pPr algn="l" marL="659158" indent="-329579" lvl="1">
              <a:lnSpc>
                <a:spcPts val="4274"/>
              </a:lnSpc>
              <a:buFont typeface="Arial"/>
              <a:buChar char="•"/>
            </a:pPr>
            <a:r>
              <a:rPr lang="en-US" b="true" sz="305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Training:</a:t>
            </a:r>
            <a:r>
              <a:rPr lang="en-US" sz="305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Transfer learning with pretrained weights → optimized for mobile speed.</a:t>
            </a:r>
          </a:p>
          <a:p>
            <a:pPr algn="l" marL="659158" indent="-329579" lvl="1">
              <a:lnSpc>
                <a:spcPts val="4274"/>
              </a:lnSpc>
              <a:buFont typeface="Arial"/>
              <a:buChar char="•"/>
            </a:pPr>
            <a:r>
              <a:rPr lang="en-US" b="true" sz="305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Performance:</a:t>
            </a:r>
            <a:r>
              <a:rPr lang="en-US" sz="305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~81% mAP accuracy, ~400 ms inference time.</a:t>
            </a:r>
          </a:p>
          <a:p>
            <a:pPr algn="l" marL="659158" indent="-329579" lvl="1">
              <a:lnSpc>
                <a:spcPts val="4274"/>
              </a:lnSpc>
              <a:buFont typeface="Arial"/>
              <a:buChar char="•"/>
            </a:pPr>
            <a:r>
              <a:rPr lang="en-US" b="true" sz="305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Deploymen</a:t>
            </a:r>
            <a:r>
              <a:rPr lang="en-US" sz="305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t: Flask server processes frames → returns object &amp; direction (left/center/right) → voice + vibration feedback.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46858" y="633813"/>
            <a:ext cx="17117544" cy="720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6"/>
              </a:lnSpc>
              <a:spcBef>
                <a:spcPct val="0"/>
              </a:spcBef>
            </a:pPr>
            <a:r>
              <a:rPr lang="en-US" b="true" sz="4276" i="true" u="sng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Implementation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146858" y="2458771"/>
            <a:ext cx="12981799" cy="1716356"/>
            <a:chOff x="0" y="0"/>
            <a:chExt cx="3419075" cy="4520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19075" cy="452044"/>
            </a:xfrm>
            <a:custGeom>
              <a:avLst/>
              <a:gdLst/>
              <a:ahLst/>
              <a:cxnLst/>
              <a:rect r="r" b="b" t="t" l="l"/>
              <a:pathLst>
                <a:path h="452044" w="3419075">
                  <a:moveTo>
                    <a:pt x="10138" y="0"/>
                  </a:moveTo>
                  <a:lnTo>
                    <a:pt x="3408936" y="0"/>
                  </a:lnTo>
                  <a:cubicBezTo>
                    <a:pt x="3414536" y="0"/>
                    <a:pt x="3419075" y="4539"/>
                    <a:pt x="3419075" y="10138"/>
                  </a:cubicBezTo>
                  <a:lnTo>
                    <a:pt x="3419075" y="441906"/>
                  </a:lnTo>
                  <a:cubicBezTo>
                    <a:pt x="3419075" y="447505"/>
                    <a:pt x="3414536" y="452044"/>
                    <a:pt x="3408936" y="452044"/>
                  </a:cubicBezTo>
                  <a:lnTo>
                    <a:pt x="10138" y="452044"/>
                  </a:lnTo>
                  <a:cubicBezTo>
                    <a:pt x="4539" y="452044"/>
                    <a:pt x="0" y="447505"/>
                    <a:pt x="0" y="441906"/>
                  </a:cubicBezTo>
                  <a:lnTo>
                    <a:pt x="0" y="10138"/>
                  </a:lnTo>
                  <a:cubicBezTo>
                    <a:pt x="0" y="4539"/>
                    <a:pt x="4539" y="0"/>
                    <a:pt x="101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4A5B">
                    <a:alpha val="10000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0"/>
              <a:ext cx="3419075" cy="356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1"/>
                </a:lnSpc>
              </a:pPr>
              <a:r>
                <a:rPr lang="en-US" b="true" sz="3376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Tech Stack:</a:t>
              </a:r>
              <a:r>
                <a:rPr lang="en-US" sz="33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Flutter, Flask, YOLOv8, SQLite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146858" y="5283238"/>
            <a:ext cx="5377354" cy="2946362"/>
            <a:chOff x="0" y="0"/>
            <a:chExt cx="1416258" cy="7759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16258" cy="775997"/>
            </a:xfrm>
            <a:custGeom>
              <a:avLst/>
              <a:gdLst/>
              <a:ahLst/>
              <a:cxnLst/>
              <a:rect r="r" b="b" t="t" l="l"/>
              <a:pathLst>
                <a:path h="775997" w="1416258">
                  <a:moveTo>
                    <a:pt x="24475" y="0"/>
                  </a:moveTo>
                  <a:lnTo>
                    <a:pt x="1391782" y="0"/>
                  </a:lnTo>
                  <a:cubicBezTo>
                    <a:pt x="1405300" y="0"/>
                    <a:pt x="1416258" y="10958"/>
                    <a:pt x="1416258" y="24475"/>
                  </a:cubicBezTo>
                  <a:lnTo>
                    <a:pt x="1416258" y="751521"/>
                  </a:lnTo>
                  <a:cubicBezTo>
                    <a:pt x="1416258" y="765039"/>
                    <a:pt x="1405300" y="775997"/>
                    <a:pt x="1391782" y="775997"/>
                  </a:cubicBezTo>
                  <a:lnTo>
                    <a:pt x="24475" y="775997"/>
                  </a:lnTo>
                  <a:cubicBezTo>
                    <a:pt x="10958" y="775997"/>
                    <a:pt x="0" y="765039"/>
                    <a:pt x="0" y="751521"/>
                  </a:cubicBezTo>
                  <a:lnTo>
                    <a:pt x="0" y="24475"/>
                  </a:lnTo>
                  <a:cubicBezTo>
                    <a:pt x="0" y="10958"/>
                    <a:pt x="10958" y="0"/>
                    <a:pt x="244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4A5B">
                    <a:alpha val="10000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66675"/>
              <a:ext cx="1416258" cy="709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79"/>
                </a:lnSpc>
              </a:pPr>
              <a:r>
                <a:rPr lang="en-US" sz="247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Performance:</a:t>
              </a:r>
            </a:p>
            <a:p>
              <a:pPr algn="l">
                <a:lnSpc>
                  <a:spcPts val="2179"/>
                </a:lnSpc>
              </a:pPr>
              <a:r>
                <a:rPr lang="en-US" sz="24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mAP ≥ 77%</a:t>
              </a:r>
            </a:p>
            <a:p>
              <a:pPr algn="l">
                <a:lnSpc>
                  <a:spcPts val="2179"/>
                </a:lnSpc>
              </a:pPr>
              <a:r>
                <a:rPr lang="en-US" sz="24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Inference ≤ 440ms</a:t>
              </a:r>
            </a:p>
            <a:p>
              <a:pPr algn="l">
                <a:lnSpc>
                  <a:spcPts val="2179"/>
                </a:lnSpc>
              </a:pPr>
              <a:r>
                <a:rPr lang="en-US" sz="24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Gesture accuracy ≥ 98%</a:t>
              </a:r>
            </a:p>
            <a:p>
              <a:pPr algn="l">
                <a:lnSpc>
                  <a:spcPts val="21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53504" y="5367132"/>
            <a:ext cx="4707429" cy="3086100"/>
            <a:chOff x="0" y="0"/>
            <a:chExt cx="1239817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9817" cy="812800"/>
            </a:xfrm>
            <a:custGeom>
              <a:avLst/>
              <a:gdLst/>
              <a:ahLst/>
              <a:cxnLst/>
              <a:rect r="r" b="b" t="t" l="l"/>
              <a:pathLst>
                <a:path h="812800" w="1239817">
                  <a:moveTo>
                    <a:pt x="27958" y="0"/>
                  </a:moveTo>
                  <a:lnTo>
                    <a:pt x="1211858" y="0"/>
                  </a:lnTo>
                  <a:cubicBezTo>
                    <a:pt x="1219273" y="0"/>
                    <a:pt x="1226385" y="2946"/>
                    <a:pt x="1231628" y="8189"/>
                  </a:cubicBezTo>
                  <a:cubicBezTo>
                    <a:pt x="1236871" y="13432"/>
                    <a:pt x="1239817" y="20543"/>
                    <a:pt x="1239817" y="27958"/>
                  </a:cubicBezTo>
                  <a:lnTo>
                    <a:pt x="1239817" y="784841"/>
                  </a:lnTo>
                  <a:cubicBezTo>
                    <a:pt x="1239817" y="792257"/>
                    <a:pt x="1236871" y="799368"/>
                    <a:pt x="1231628" y="804611"/>
                  </a:cubicBezTo>
                  <a:cubicBezTo>
                    <a:pt x="1226385" y="809854"/>
                    <a:pt x="1219273" y="812800"/>
                    <a:pt x="1211858" y="812800"/>
                  </a:cubicBezTo>
                  <a:lnTo>
                    <a:pt x="27958" y="812800"/>
                  </a:lnTo>
                  <a:cubicBezTo>
                    <a:pt x="20543" y="812800"/>
                    <a:pt x="13432" y="809854"/>
                    <a:pt x="8189" y="804611"/>
                  </a:cubicBezTo>
                  <a:cubicBezTo>
                    <a:pt x="2946" y="799368"/>
                    <a:pt x="0" y="792257"/>
                    <a:pt x="0" y="784841"/>
                  </a:cubicBezTo>
                  <a:lnTo>
                    <a:pt x="0" y="27958"/>
                  </a:lnTo>
                  <a:cubicBezTo>
                    <a:pt x="0" y="20543"/>
                    <a:pt x="2946" y="13432"/>
                    <a:pt x="8189" y="8189"/>
                  </a:cubicBezTo>
                  <a:cubicBezTo>
                    <a:pt x="13432" y="2946"/>
                    <a:pt x="20543" y="0"/>
                    <a:pt x="2795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4A5B">
                    <a:alpha val="10000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76200"/>
              <a:ext cx="1239817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55"/>
                </a:lnSpc>
              </a:pPr>
              <a:r>
                <a:rPr lang="en-US" sz="267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UI/UX:</a:t>
              </a:r>
              <a:r>
                <a:rPr lang="en-US" sz="26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High contrast, swipe cards, neon theme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1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5029" y="2057400"/>
            <a:ext cx="3455680" cy="5713772"/>
            <a:chOff x="0" y="0"/>
            <a:chExt cx="910138" cy="15048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0138" cy="1504862"/>
            </a:xfrm>
            <a:custGeom>
              <a:avLst/>
              <a:gdLst/>
              <a:ahLst/>
              <a:cxnLst/>
              <a:rect r="r" b="b" t="t" l="l"/>
              <a:pathLst>
                <a:path h="1504862" w="910138">
                  <a:moveTo>
                    <a:pt x="0" y="0"/>
                  </a:moveTo>
                  <a:lnTo>
                    <a:pt x="910138" y="0"/>
                  </a:lnTo>
                  <a:lnTo>
                    <a:pt x="910138" y="1504862"/>
                  </a:lnTo>
                  <a:lnTo>
                    <a:pt x="0" y="1504862"/>
                  </a:lnTo>
                  <a:close/>
                </a:path>
              </a:pathLst>
            </a:custGeom>
            <a:solidFill>
              <a:srgbClr val="27DD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910138" cy="1457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35029" y="2057400"/>
            <a:ext cx="3455680" cy="5713772"/>
          </a:xfrm>
          <a:custGeom>
            <a:avLst/>
            <a:gdLst/>
            <a:ahLst/>
            <a:cxnLst/>
            <a:rect r="r" b="b" t="t" l="l"/>
            <a:pathLst>
              <a:path h="5713772" w="3455680">
                <a:moveTo>
                  <a:pt x="0" y="0"/>
                </a:moveTo>
                <a:lnTo>
                  <a:pt x="3455680" y="0"/>
                </a:lnTo>
                <a:lnTo>
                  <a:pt x="3455680" y="5713772"/>
                </a:lnTo>
                <a:lnTo>
                  <a:pt x="0" y="57137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207" r="0" b="-1820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35029" y="527717"/>
            <a:ext cx="16624271" cy="706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6"/>
              </a:lnSpc>
              <a:spcBef>
                <a:spcPct val="0"/>
              </a:spcBef>
            </a:pPr>
            <a:r>
              <a:rPr lang="en-US" b="true" sz="4076" i="true" u="sng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User Interfaces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816448" y="2057400"/>
            <a:ext cx="3086100" cy="5713772"/>
            <a:chOff x="0" y="0"/>
            <a:chExt cx="812800" cy="15048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1504862"/>
            </a:xfrm>
            <a:custGeom>
              <a:avLst/>
              <a:gdLst/>
              <a:ahLst/>
              <a:cxnLst/>
              <a:rect r="r" b="b" t="t" l="l"/>
              <a:pathLst>
                <a:path h="150486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504862"/>
                  </a:lnTo>
                  <a:lnTo>
                    <a:pt x="0" y="1504862"/>
                  </a:lnTo>
                  <a:close/>
                </a:path>
              </a:pathLst>
            </a:custGeom>
            <a:solidFill>
              <a:srgbClr val="1E343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47625"/>
              <a:ext cx="812800" cy="1457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816448" y="2057400"/>
            <a:ext cx="3421547" cy="5713772"/>
          </a:xfrm>
          <a:custGeom>
            <a:avLst/>
            <a:gdLst/>
            <a:ahLst/>
            <a:cxnLst/>
            <a:rect r="r" b="b" t="t" l="l"/>
            <a:pathLst>
              <a:path h="5713772" w="3421547">
                <a:moveTo>
                  <a:pt x="0" y="0"/>
                </a:moveTo>
                <a:lnTo>
                  <a:pt x="3421548" y="0"/>
                </a:lnTo>
                <a:lnTo>
                  <a:pt x="3421548" y="5713772"/>
                </a:lnTo>
                <a:lnTo>
                  <a:pt x="0" y="57137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534" r="0" b="-17534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961896" y="2057400"/>
            <a:ext cx="3421547" cy="5713772"/>
            <a:chOff x="0" y="0"/>
            <a:chExt cx="901148" cy="15048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01148" cy="1504862"/>
            </a:xfrm>
            <a:custGeom>
              <a:avLst/>
              <a:gdLst/>
              <a:ahLst/>
              <a:cxnLst/>
              <a:rect r="r" b="b" t="t" l="l"/>
              <a:pathLst>
                <a:path h="1504862" w="901148">
                  <a:moveTo>
                    <a:pt x="0" y="0"/>
                  </a:moveTo>
                  <a:lnTo>
                    <a:pt x="901148" y="0"/>
                  </a:lnTo>
                  <a:lnTo>
                    <a:pt x="901148" y="1504862"/>
                  </a:lnTo>
                  <a:lnTo>
                    <a:pt x="0" y="1504862"/>
                  </a:lnTo>
                  <a:close/>
                </a:path>
              </a:pathLst>
            </a:custGeom>
            <a:solidFill>
              <a:srgbClr val="1E343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47625"/>
              <a:ext cx="901148" cy="1457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961896" y="2057400"/>
            <a:ext cx="3421547" cy="5713772"/>
          </a:xfrm>
          <a:custGeom>
            <a:avLst/>
            <a:gdLst/>
            <a:ahLst/>
            <a:cxnLst/>
            <a:rect r="r" b="b" t="t" l="l"/>
            <a:pathLst>
              <a:path h="5713772" w="3421547">
                <a:moveTo>
                  <a:pt x="0" y="0"/>
                </a:moveTo>
                <a:lnTo>
                  <a:pt x="3421547" y="0"/>
                </a:lnTo>
                <a:lnTo>
                  <a:pt x="3421547" y="5713772"/>
                </a:lnTo>
                <a:lnTo>
                  <a:pt x="0" y="57137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320" r="0" b="-29748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3107343" y="2057400"/>
            <a:ext cx="3449501" cy="5713772"/>
            <a:chOff x="0" y="0"/>
            <a:chExt cx="908511" cy="15048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08511" cy="1504862"/>
            </a:xfrm>
            <a:custGeom>
              <a:avLst/>
              <a:gdLst/>
              <a:ahLst/>
              <a:cxnLst/>
              <a:rect r="r" b="b" t="t" l="l"/>
              <a:pathLst>
                <a:path h="1504862" w="908511">
                  <a:moveTo>
                    <a:pt x="0" y="0"/>
                  </a:moveTo>
                  <a:lnTo>
                    <a:pt x="908511" y="0"/>
                  </a:lnTo>
                  <a:lnTo>
                    <a:pt x="908511" y="1504862"/>
                  </a:lnTo>
                  <a:lnTo>
                    <a:pt x="0" y="1504862"/>
                  </a:lnTo>
                  <a:close/>
                </a:path>
              </a:pathLst>
            </a:custGeom>
            <a:solidFill>
              <a:srgbClr val="1E343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47625"/>
              <a:ext cx="908511" cy="1457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3107343" y="2057400"/>
            <a:ext cx="3449501" cy="5713772"/>
          </a:xfrm>
          <a:custGeom>
            <a:avLst/>
            <a:gdLst/>
            <a:ahLst/>
            <a:cxnLst/>
            <a:rect r="r" b="b" t="t" l="l"/>
            <a:pathLst>
              <a:path h="5713772" w="3449501">
                <a:moveTo>
                  <a:pt x="0" y="0"/>
                </a:moveTo>
                <a:lnTo>
                  <a:pt x="3449502" y="0"/>
                </a:lnTo>
                <a:lnTo>
                  <a:pt x="3449502" y="5713772"/>
                </a:lnTo>
                <a:lnTo>
                  <a:pt x="0" y="57137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9" t="-4636" r="0" b="-31806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635029" y="8039519"/>
            <a:ext cx="3455680" cy="1660448"/>
            <a:chOff x="0" y="0"/>
            <a:chExt cx="910138" cy="4373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0138" cy="437320"/>
            </a:xfrm>
            <a:custGeom>
              <a:avLst/>
              <a:gdLst/>
              <a:ahLst/>
              <a:cxnLst/>
              <a:rect r="r" b="b" t="t" l="l"/>
              <a:pathLst>
                <a:path h="437320" w="910138">
                  <a:moveTo>
                    <a:pt x="38086" y="0"/>
                  </a:moveTo>
                  <a:lnTo>
                    <a:pt x="872052" y="0"/>
                  </a:lnTo>
                  <a:cubicBezTo>
                    <a:pt x="893086" y="0"/>
                    <a:pt x="910138" y="17052"/>
                    <a:pt x="910138" y="38086"/>
                  </a:cubicBezTo>
                  <a:lnTo>
                    <a:pt x="910138" y="399234"/>
                  </a:lnTo>
                  <a:cubicBezTo>
                    <a:pt x="910138" y="420268"/>
                    <a:pt x="893086" y="437320"/>
                    <a:pt x="872052" y="437320"/>
                  </a:cubicBezTo>
                  <a:lnTo>
                    <a:pt x="38086" y="437320"/>
                  </a:lnTo>
                  <a:cubicBezTo>
                    <a:pt x="27985" y="437320"/>
                    <a:pt x="18298" y="433307"/>
                    <a:pt x="11155" y="426165"/>
                  </a:cubicBezTo>
                  <a:cubicBezTo>
                    <a:pt x="4013" y="419022"/>
                    <a:pt x="0" y="409335"/>
                    <a:pt x="0" y="399234"/>
                  </a:cubicBezTo>
                  <a:lnTo>
                    <a:pt x="0" y="38086"/>
                  </a:lnTo>
                  <a:cubicBezTo>
                    <a:pt x="0" y="17052"/>
                    <a:pt x="17052" y="0"/>
                    <a:pt x="380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76200"/>
              <a:ext cx="910138" cy="361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67"/>
                </a:lnSpc>
              </a:pPr>
              <a:r>
                <a:rPr lang="en-US" b="true" sz="2576" i="true" u="sng">
                  <a:solidFill>
                    <a:srgbClr val="FFFFFF"/>
                  </a:solidFill>
                  <a:latin typeface="Inter Bold Italics"/>
                  <a:ea typeface="Inter Bold Italics"/>
                  <a:cs typeface="Inter Bold Italics"/>
                  <a:sym typeface="Inter Bold Italics"/>
                </a:rPr>
                <a:t>VR-Screen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782316" y="8039519"/>
            <a:ext cx="3455680" cy="1660448"/>
            <a:chOff x="0" y="0"/>
            <a:chExt cx="910138" cy="4373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0138" cy="437320"/>
            </a:xfrm>
            <a:custGeom>
              <a:avLst/>
              <a:gdLst/>
              <a:ahLst/>
              <a:cxnLst/>
              <a:rect r="r" b="b" t="t" l="l"/>
              <a:pathLst>
                <a:path h="437320" w="910138">
                  <a:moveTo>
                    <a:pt x="38086" y="0"/>
                  </a:moveTo>
                  <a:lnTo>
                    <a:pt x="872052" y="0"/>
                  </a:lnTo>
                  <a:cubicBezTo>
                    <a:pt x="893086" y="0"/>
                    <a:pt x="910138" y="17052"/>
                    <a:pt x="910138" y="38086"/>
                  </a:cubicBezTo>
                  <a:lnTo>
                    <a:pt x="910138" y="399234"/>
                  </a:lnTo>
                  <a:cubicBezTo>
                    <a:pt x="910138" y="420268"/>
                    <a:pt x="893086" y="437320"/>
                    <a:pt x="872052" y="437320"/>
                  </a:cubicBezTo>
                  <a:lnTo>
                    <a:pt x="38086" y="437320"/>
                  </a:lnTo>
                  <a:cubicBezTo>
                    <a:pt x="27985" y="437320"/>
                    <a:pt x="18298" y="433307"/>
                    <a:pt x="11155" y="426165"/>
                  </a:cubicBezTo>
                  <a:cubicBezTo>
                    <a:pt x="4013" y="419022"/>
                    <a:pt x="0" y="409335"/>
                    <a:pt x="0" y="399234"/>
                  </a:cubicBezTo>
                  <a:lnTo>
                    <a:pt x="0" y="38086"/>
                  </a:lnTo>
                  <a:cubicBezTo>
                    <a:pt x="0" y="17052"/>
                    <a:pt x="17052" y="0"/>
                    <a:pt x="380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47625"/>
              <a:ext cx="910138" cy="389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739"/>
                </a:lnSpc>
              </a:pPr>
              <a:r>
                <a:rPr lang="en-US" b="true" sz="1976" i="true" u="sng">
                  <a:solidFill>
                    <a:srgbClr val="FFFFFF"/>
                  </a:solidFill>
                  <a:latin typeface="Inter Bold Italics"/>
                  <a:ea typeface="Inter Bold Italics"/>
                  <a:cs typeface="Inter Bold Italics"/>
                  <a:sym typeface="Inter Bold Italics"/>
                </a:rPr>
                <a:t>Camera Detection-Screen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738264" y="8039519"/>
            <a:ext cx="3455680" cy="1660448"/>
            <a:chOff x="0" y="0"/>
            <a:chExt cx="910138" cy="4373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0138" cy="437320"/>
            </a:xfrm>
            <a:custGeom>
              <a:avLst/>
              <a:gdLst/>
              <a:ahLst/>
              <a:cxnLst/>
              <a:rect r="r" b="b" t="t" l="l"/>
              <a:pathLst>
                <a:path h="437320" w="910138">
                  <a:moveTo>
                    <a:pt x="38086" y="0"/>
                  </a:moveTo>
                  <a:lnTo>
                    <a:pt x="872052" y="0"/>
                  </a:lnTo>
                  <a:cubicBezTo>
                    <a:pt x="893086" y="0"/>
                    <a:pt x="910138" y="17052"/>
                    <a:pt x="910138" y="38086"/>
                  </a:cubicBezTo>
                  <a:lnTo>
                    <a:pt x="910138" y="399234"/>
                  </a:lnTo>
                  <a:cubicBezTo>
                    <a:pt x="910138" y="420268"/>
                    <a:pt x="893086" y="437320"/>
                    <a:pt x="872052" y="437320"/>
                  </a:cubicBezTo>
                  <a:lnTo>
                    <a:pt x="38086" y="437320"/>
                  </a:lnTo>
                  <a:cubicBezTo>
                    <a:pt x="27985" y="437320"/>
                    <a:pt x="18298" y="433307"/>
                    <a:pt x="11155" y="426165"/>
                  </a:cubicBezTo>
                  <a:cubicBezTo>
                    <a:pt x="4013" y="419022"/>
                    <a:pt x="0" y="409335"/>
                    <a:pt x="0" y="399234"/>
                  </a:cubicBezTo>
                  <a:lnTo>
                    <a:pt x="0" y="38086"/>
                  </a:lnTo>
                  <a:cubicBezTo>
                    <a:pt x="0" y="17052"/>
                    <a:pt x="17052" y="0"/>
                    <a:pt x="380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76200"/>
              <a:ext cx="910138" cy="361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67"/>
                </a:lnSpc>
              </a:pPr>
              <a:r>
                <a:rPr lang="en-US" b="true" sz="2576" i="true" u="sng">
                  <a:solidFill>
                    <a:srgbClr val="FFFFFF"/>
                  </a:solidFill>
                  <a:latin typeface="Inter Bold Italics"/>
                  <a:ea typeface="Inter Bold Italics"/>
                  <a:cs typeface="Inter Bold Italics"/>
                  <a:sym typeface="Inter Bold Italics"/>
                </a:rPr>
                <a:t>Scheduling- Screen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107343" y="8039519"/>
            <a:ext cx="3455680" cy="1660448"/>
            <a:chOff x="0" y="0"/>
            <a:chExt cx="910138" cy="4373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0138" cy="437320"/>
            </a:xfrm>
            <a:custGeom>
              <a:avLst/>
              <a:gdLst/>
              <a:ahLst/>
              <a:cxnLst/>
              <a:rect r="r" b="b" t="t" l="l"/>
              <a:pathLst>
                <a:path h="437320" w="910138">
                  <a:moveTo>
                    <a:pt x="38086" y="0"/>
                  </a:moveTo>
                  <a:lnTo>
                    <a:pt x="872052" y="0"/>
                  </a:lnTo>
                  <a:cubicBezTo>
                    <a:pt x="893086" y="0"/>
                    <a:pt x="910138" y="17052"/>
                    <a:pt x="910138" y="38086"/>
                  </a:cubicBezTo>
                  <a:lnTo>
                    <a:pt x="910138" y="399234"/>
                  </a:lnTo>
                  <a:cubicBezTo>
                    <a:pt x="910138" y="420268"/>
                    <a:pt x="893086" y="437320"/>
                    <a:pt x="872052" y="437320"/>
                  </a:cubicBezTo>
                  <a:lnTo>
                    <a:pt x="38086" y="437320"/>
                  </a:lnTo>
                  <a:cubicBezTo>
                    <a:pt x="27985" y="437320"/>
                    <a:pt x="18298" y="433307"/>
                    <a:pt x="11155" y="426165"/>
                  </a:cubicBezTo>
                  <a:cubicBezTo>
                    <a:pt x="4013" y="419022"/>
                    <a:pt x="0" y="409335"/>
                    <a:pt x="0" y="399234"/>
                  </a:cubicBezTo>
                  <a:lnTo>
                    <a:pt x="0" y="38086"/>
                  </a:lnTo>
                  <a:cubicBezTo>
                    <a:pt x="0" y="17052"/>
                    <a:pt x="17052" y="0"/>
                    <a:pt x="380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76200"/>
              <a:ext cx="910138" cy="361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67"/>
                </a:lnSpc>
              </a:pPr>
              <a:r>
                <a:rPr lang="en-US" b="true" sz="2576" i="true" u="sng">
                  <a:solidFill>
                    <a:srgbClr val="FFFFFF"/>
                  </a:solidFill>
                  <a:latin typeface="Inter Bold Italics"/>
                  <a:ea typeface="Inter Bold Italics"/>
                  <a:cs typeface="Inter Bold Italics"/>
                  <a:sym typeface="Inter Bold Italics"/>
                </a:rPr>
                <a:t>SOS-Screen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30B0E">
                <a:alpha val="100000"/>
              </a:srgbClr>
            </a:gs>
            <a:gs pos="100000">
              <a:srgbClr val="49A8B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1700" y="952500"/>
            <a:ext cx="17186300" cy="720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6"/>
              </a:lnSpc>
              <a:spcBef>
                <a:spcPct val="0"/>
              </a:spcBef>
            </a:pPr>
            <a:r>
              <a:rPr lang="en-US" b="true" sz="4276" i="true" u="sng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Challenges &amp; Limitations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50850" y="2539544"/>
            <a:ext cx="14517291" cy="523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2817" indent="-461409" lvl="1">
              <a:lnSpc>
                <a:spcPts val="5983"/>
              </a:lnSpc>
              <a:buFont typeface="Arial"/>
              <a:buChar char="•"/>
            </a:pPr>
            <a:r>
              <a:rPr lang="en-US" b="true" sz="4274" i="true" u="sng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Real-time AI </a:t>
            </a:r>
            <a:r>
              <a:rPr lang="en-US" sz="427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vs </a:t>
            </a:r>
            <a:r>
              <a:rPr lang="en-US" b="true" sz="4274" i="true" u="sng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Mobile Hardware limits</a:t>
            </a:r>
          </a:p>
          <a:p>
            <a:pPr algn="l">
              <a:lnSpc>
                <a:spcPts val="5983"/>
              </a:lnSpc>
            </a:pPr>
          </a:p>
          <a:p>
            <a:pPr algn="l" marL="922817" indent="-461409" lvl="1">
              <a:lnSpc>
                <a:spcPts val="5983"/>
              </a:lnSpc>
              <a:buFont typeface="Arial"/>
              <a:buChar char="•"/>
            </a:pPr>
            <a:r>
              <a:rPr lang="en-US" b="true" sz="4274" i="true" u="sng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Offline</a:t>
            </a:r>
            <a:r>
              <a:rPr lang="en-US" sz="427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operation across entire campus</a:t>
            </a:r>
          </a:p>
          <a:p>
            <a:pPr algn="l">
              <a:lnSpc>
                <a:spcPts val="5983"/>
              </a:lnSpc>
            </a:pPr>
          </a:p>
          <a:p>
            <a:pPr algn="l" marL="922817" indent="-461409" lvl="1">
              <a:lnSpc>
                <a:spcPts val="5983"/>
              </a:lnSpc>
              <a:buFont typeface="Arial"/>
              <a:buChar char="•"/>
            </a:pPr>
            <a:r>
              <a:rPr lang="en-US" sz="427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Avoiding </a:t>
            </a:r>
            <a:r>
              <a:rPr lang="en-US" b="true" sz="4274" i="true" u="sng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cognitive overload </a:t>
            </a:r>
            <a:r>
              <a:rPr lang="en-US" sz="427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with too much feedback</a:t>
            </a:r>
          </a:p>
          <a:p>
            <a:pPr algn="l">
              <a:lnSpc>
                <a:spcPts val="5983"/>
              </a:lnSpc>
            </a:pPr>
          </a:p>
          <a:p>
            <a:pPr algn="l" marL="922817" indent="-461409" lvl="1">
              <a:lnSpc>
                <a:spcPts val="5983"/>
              </a:lnSpc>
              <a:buFont typeface="Arial"/>
              <a:buChar char="•"/>
            </a:pPr>
            <a:r>
              <a:rPr lang="en-US" b="true" sz="4274" i="true" u="sng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Dataset scope</a:t>
            </a:r>
            <a:r>
              <a:rPr lang="en-US" sz="427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– trained mainly on GCU obstacles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6207254" cy="6252729"/>
          </a:xfrm>
          <a:custGeom>
            <a:avLst/>
            <a:gdLst/>
            <a:ahLst/>
            <a:cxnLst/>
            <a:rect r="r" b="b" t="t" l="l"/>
            <a:pathLst>
              <a:path h="6252729" w="6207254">
                <a:moveTo>
                  <a:pt x="0" y="0"/>
                </a:moveTo>
                <a:lnTo>
                  <a:pt x="6207254" y="0"/>
                </a:lnTo>
                <a:lnTo>
                  <a:pt x="6207254" y="6252729"/>
                </a:lnTo>
                <a:lnTo>
                  <a:pt x="0" y="62527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4773169"/>
            <a:ext cx="18288000" cy="5513831"/>
            <a:chOff x="0" y="0"/>
            <a:chExt cx="4816593" cy="14522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452202"/>
            </a:xfrm>
            <a:custGeom>
              <a:avLst/>
              <a:gdLst/>
              <a:ahLst/>
              <a:cxnLst/>
              <a:rect r="r" b="b" t="t" l="l"/>
              <a:pathLst>
                <a:path h="145220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452202"/>
                  </a:lnTo>
                  <a:lnTo>
                    <a:pt x="0" y="1452202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4816593" cy="1404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11900" y="737151"/>
            <a:ext cx="17576100" cy="110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66"/>
              </a:lnSpc>
              <a:spcBef>
                <a:spcPct val="0"/>
              </a:spcBef>
            </a:pPr>
            <a:r>
              <a:rPr lang="en-US" b="true" sz="6476" i="true" u="sng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 Conclusion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41304" y="2677970"/>
            <a:ext cx="16895353" cy="1804429"/>
            <a:chOff x="0" y="0"/>
            <a:chExt cx="4449805" cy="4752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9805" cy="475241"/>
            </a:xfrm>
            <a:custGeom>
              <a:avLst/>
              <a:gdLst/>
              <a:ahLst/>
              <a:cxnLst/>
              <a:rect r="r" b="b" t="t" l="l"/>
              <a:pathLst>
                <a:path h="475241" w="4449805">
                  <a:moveTo>
                    <a:pt x="7790" y="0"/>
                  </a:moveTo>
                  <a:lnTo>
                    <a:pt x="4442015" y="0"/>
                  </a:lnTo>
                  <a:cubicBezTo>
                    <a:pt x="4444081" y="0"/>
                    <a:pt x="4446062" y="821"/>
                    <a:pt x="4447523" y="2282"/>
                  </a:cubicBezTo>
                  <a:cubicBezTo>
                    <a:pt x="4448984" y="3742"/>
                    <a:pt x="4449805" y="5724"/>
                    <a:pt x="4449805" y="7790"/>
                  </a:cubicBezTo>
                  <a:lnTo>
                    <a:pt x="4449805" y="467451"/>
                  </a:lnTo>
                  <a:cubicBezTo>
                    <a:pt x="4449805" y="469517"/>
                    <a:pt x="4448984" y="471498"/>
                    <a:pt x="4447523" y="472959"/>
                  </a:cubicBezTo>
                  <a:cubicBezTo>
                    <a:pt x="4446062" y="474420"/>
                    <a:pt x="4444081" y="475241"/>
                    <a:pt x="4442015" y="475241"/>
                  </a:cubicBezTo>
                  <a:lnTo>
                    <a:pt x="7790" y="475241"/>
                  </a:lnTo>
                  <a:cubicBezTo>
                    <a:pt x="5724" y="475241"/>
                    <a:pt x="3742" y="474420"/>
                    <a:pt x="2282" y="472959"/>
                  </a:cubicBezTo>
                  <a:cubicBezTo>
                    <a:pt x="821" y="471498"/>
                    <a:pt x="0" y="469517"/>
                    <a:pt x="0" y="467451"/>
                  </a:cubicBezTo>
                  <a:lnTo>
                    <a:pt x="0" y="7790"/>
                  </a:lnTo>
                  <a:cubicBezTo>
                    <a:pt x="0" y="5724"/>
                    <a:pt x="821" y="3742"/>
                    <a:pt x="2282" y="2282"/>
                  </a:cubicBezTo>
                  <a:cubicBezTo>
                    <a:pt x="3742" y="821"/>
                    <a:pt x="5724" y="0"/>
                    <a:pt x="7790" y="0"/>
                  </a:cubicBezTo>
                  <a:close/>
                </a:path>
              </a:pathLst>
            </a:custGeom>
            <a:solidFill>
              <a:srgbClr val="1E343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0"/>
              <a:ext cx="4449805" cy="379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795"/>
                </a:lnSpc>
              </a:pPr>
              <a:r>
                <a:rPr lang="en-US" sz="31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GCU Eye = safety, independence &amp; accessibility for blind students.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41304" y="4773169"/>
            <a:ext cx="16895353" cy="1804429"/>
            <a:chOff x="0" y="0"/>
            <a:chExt cx="4449805" cy="4752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49805" cy="475241"/>
            </a:xfrm>
            <a:custGeom>
              <a:avLst/>
              <a:gdLst/>
              <a:ahLst/>
              <a:cxnLst/>
              <a:rect r="r" b="b" t="t" l="l"/>
              <a:pathLst>
                <a:path h="475241" w="4449805">
                  <a:moveTo>
                    <a:pt x="7790" y="0"/>
                  </a:moveTo>
                  <a:lnTo>
                    <a:pt x="4442015" y="0"/>
                  </a:lnTo>
                  <a:cubicBezTo>
                    <a:pt x="4444081" y="0"/>
                    <a:pt x="4446062" y="821"/>
                    <a:pt x="4447523" y="2282"/>
                  </a:cubicBezTo>
                  <a:cubicBezTo>
                    <a:pt x="4448984" y="3742"/>
                    <a:pt x="4449805" y="5724"/>
                    <a:pt x="4449805" y="7790"/>
                  </a:cubicBezTo>
                  <a:lnTo>
                    <a:pt x="4449805" y="467451"/>
                  </a:lnTo>
                  <a:cubicBezTo>
                    <a:pt x="4449805" y="469517"/>
                    <a:pt x="4448984" y="471498"/>
                    <a:pt x="4447523" y="472959"/>
                  </a:cubicBezTo>
                  <a:cubicBezTo>
                    <a:pt x="4446062" y="474420"/>
                    <a:pt x="4444081" y="475241"/>
                    <a:pt x="4442015" y="475241"/>
                  </a:cubicBezTo>
                  <a:lnTo>
                    <a:pt x="7790" y="475241"/>
                  </a:lnTo>
                  <a:cubicBezTo>
                    <a:pt x="5724" y="475241"/>
                    <a:pt x="3742" y="474420"/>
                    <a:pt x="2282" y="472959"/>
                  </a:cubicBezTo>
                  <a:cubicBezTo>
                    <a:pt x="821" y="471498"/>
                    <a:pt x="0" y="469517"/>
                    <a:pt x="0" y="467451"/>
                  </a:cubicBezTo>
                  <a:lnTo>
                    <a:pt x="0" y="7790"/>
                  </a:lnTo>
                  <a:cubicBezTo>
                    <a:pt x="0" y="5724"/>
                    <a:pt x="821" y="3742"/>
                    <a:pt x="2282" y="2282"/>
                  </a:cubicBezTo>
                  <a:cubicBezTo>
                    <a:pt x="3742" y="821"/>
                    <a:pt x="5724" y="0"/>
                    <a:pt x="7790" y="0"/>
                  </a:cubicBezTo>
                  <a:close/>
                </a:path>
              </a:pathLst>
            </a:custGeom>
            <a:solidFill>
              <a:srgbClr val="1E343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0"/>
              <a:ext cx="4449805" cy="379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795"/>
                </a:lnSpc>
              </a:pPr>
              <a:r>
                <a:rPr lang="en-US" sz="31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Combines AI + Gestures + Voice in one mobile solution.</a:t>
              </a:r>
            </a:p>
            <a:p>
              <a:pPr algn="ctr">
                <a:lnSpc>
                  <a:spcPts val="1387"/>
                </a:lnSpc>
              </a:pPr>
            </a:p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41304" y="6872874"/>
            <a:ext cx="16895353" cy="1804429"/>
            <a:chOff x="0" y="0"/>
            <a:chExt cx="4449805" cy="47524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49805" cy="475241"/>
            </a:xfrm>
            <a:custGeom>
              <a:avLst/>
              <a:gdLst/>
              <a:ahLst/>
              <a:cxnLst/>
              <a:rect r="r" b="b" t="t" l="l"/>
              <a:pathLst>
                <a:path h="475241" w="4449805">
                  <a:moveTo>
                    <a:pt x="7790" y="0"/>
                  </a:moveTo>
                  <a:lnTo>
                    <a:pt x="4442015" y="0"/>
                  </a:lnTo>
                  <a:cubicBezTo>
                    <a:pt x="4444081" y="0"/>
                    <a:pt x="4446062" y="821"/>
                    <a:pt x="4447523" y="2282"/>
                  </a:cubicBezTo>
                  <a:cubicBezTo>
                    <a:pt x="4448984" y="3742"/>
                    <a:pt x="4449805" y="5724"/>
                    <a:pt x="4449805" y="7790"/>
                  </a:cubicBezTo>
                  <a:lnTo>
                    <a:pt x="4449805" y="467451"/>
                  </a:lnTo>
                  <a:cubicBezTo>
                    <a:pt x="4449805" y="469517"/>
                    <a:pt x="4448984" y="471498"/>
                    <a:pt x="4447523" y="472959"/>
                  </a:cubicBezTo>
                  <a:cubicBezTo>
                    <a:pt x="4446062" y="474420"/>
                    <a:pt x="4444081" y="475241"/>
                    <a:pt x="4442015" y="475241"/>
                  </a:cubicBezTo>
                  <a:lnTo>
                    <a:pt x="7790" y="475241"/>
                  </a:lnTo>
                  <a:cubicBezTo>
                    <a:pt x="5724" y="475241"/>
                    <a:pt x="3742" y="474420"/>
                    <a:pt x="2282" y="472959"/>
                  </a:cubicBezTo>
                  <a:cubicBezTo>
                    <a:pt x="821" y="471498"/>
                    <a:pt x="0" y="469517"/>
                    <a:pt x="0" y="467451"/>
                  </a:cubicBezTo>
                  <a:lnTo>
                    <a:pt x="0" y="7790"/>
                  </a:lnTo>
                  <a:cubicBezTo>
                    <a:pt x="0" y="5724"/>
                    <a:pt x="821" y="3742"/>
                    <a:pt x="2282" y="2282"/>
                  </a:cubicBezTo>
                  <a:cubicBezTo>
                    <a:pt x="3742" y="821"/>
                    <a:pt x="5724" y="0"/>
                    <a:pt x="7790" y="0"/>
                  </a:cubicBezTo>
                  <a:close/>
                </a:path>
              </a:pathLst>
            </a:custGeom>
            <a:solidFill>
              <a:srgbClr val="1E343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95250"/>
              <a:ext cx="4449805" cy="379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795"/>
                </a:lnSpc>
              </a:pPr>
              <a:r>
                <a:rPr lang="en-US" sz="317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Proves low-cost assistive tech can transform campus life.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5268" y="1197082"/>
            <a:ext cx="16794032" cy="847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26"/>
              </a:lnSpc>
              <a:spcBef>
                <a:spcPct val="0"/>
              </a:spcBef>
            </a:pPr>
            <a:r>
              <a:rPr lang="en-US" b="true" sz="4876" i="true" u="sng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Future Work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65268" y="2816140"/>
            <a:ext cx="17259325" cy="6167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4080" indent="-342040" lvl="1">
              <a:lnSpc>
                <a:spcPts val="4435"/>
              </a:lnSpc>
              <a:buFont typeface="Arial"/>
              <a:buChar char="•"/>
            </a:pPr>
            <a:r>
              <a:rPr lang="en-US" b="true" sz="3168" i="true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Campus-wide indoor maps &amp; outdoor GPS navigation</a:t>
            </a:r>
          </a:p>
          <a:p>
            <a:pPr algn="l">
              <a:lnSpc>
                <a:spcPts val="4435"/>
              </a:lnSpc>
            </a:pPr>
          </a:p>
          <a:p>
            <a:pPr algn="l" marL="684080" indent="-342040" lvl="1">
              <a:lnSpc>
                <a:spcPts val="4435"/>
              </a:lnSpc>
              <a:buFont typeface="Arial"/>
              <a:buChar char="•"/>
            </a:pPr>
            <a:r>
              <a:rPr lang="en-US" sz="31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b="true" sz="3168" i="true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ndoor Positioning System (IPS</a:t>
            </a:r>
            <a:r>
              <a:rPr lang="en-US" sz="31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) with real-time tracking</a:t>
            </a:r>
          </a:p>
          <a:p>
            <a:pPr algn="l">
              <a:lnSpc>
                <a:spcPts val="4435"/>
              </a:lnSpc>
            </a:pPr>
          </a:p>
          <a:p>
            <a:pPr algn="l" marL="684080" indent="-342040" lvl="1">
              <a:lnSpc>
                <a:spcPts val="4435"/>
              </a:lnSpc>
              <a:buFont typeface="Arial"/>
              <a:buChar char="•"/>
            </a:pPr>
            <a:r>
              <a:rPr lang="en-US" sz="31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On-device </a:t>
            </a:r>
            <a:r>
              <a:rPr lang="en-US" b="true" sz="3168" i="true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YOLOv8 </a:t>
            </a:r>
            <a:r>
              <a:rPr lang="en-US" sz="31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(no server dependency)</a:t>
            </a:r>
          </a:p>
          <a:p>
            <a:pPr algn="l">
              <a:lnSpc>
                <a:spcPts val="4435"/>
              </a:lnSpc>
            </a:pPr>
          </a:p>
          <a:p>
            <a:pPr algn="l" marL="684080" indent="-342040" lvl="1">
              <a:lnSpc>
                <a:spcPts val="4435"/>
              </a:lnSpc>
              <a:buFont typeface="Arial"/>
              <a:buChar char="•"/>
            </a:pPr>
            <a:r>
              <a:rPr lang="en-US" b="true" sz="316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Multilingual voice support</a:t>
            </a:r>
          </a:p>
          <a:p>
            <a:pPr algn="l">
              <a:lnSpc>
                <a:spcPts val="4435"/>
              </a:lnSpc>
            </a:pPr>
          </a:p>
          <a:p>
            <a:pPr algn="l" marL="684080" indent="-342040" lvl="1">
              <a:lnSpc>
                <a:spcPts val="4435"/>
              </a:lnSpc>
              <a:buFont typeface="Arial"/>
              <a:buChar char="•"/>
            </a:pPr>
            <a:r>
              <a:rPr lang="en-US" sz="31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Customizable </a:t>
            </a:r>
            <a:r>
              <a:rPr lang="en-US" b="true" sz="316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gesture mapping</a:t>
            </a:r>
          </a:p>
          <a:p>
            <a:pPr algn="l">
              <a:lnSpc>
                <a:spcPts val="4435"/>
              </a:lnSpc>
            </a:pPr>
          </a:p>
          <a:p>
            <a:pPr algn="l" marL="684080" indent="-342040" lvl="1">
              <a:lnSpc>
                <a:spcPts val="4435"/>
              </a:lnSpc>
              <a:buFont typeface="Arial"/>
              <a:buChar char="•"/>
            </a:pPr>
            <a:r>
              <a:rPr lang="en-US" b="true" sz="316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Deployment </a:t>
            </a:r>
            <a:r>
              <a:rPr lang="en-US" sz="316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at GCU &amp; other institutions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7372" y="6564660"/>
            <a:ext cx="18345372" cy="3722340"/>
            <a:chOff x="0" y="0"/>
            <a:chExt cx="4831703" cy="9803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31703" cy="980369"/>
            </a:xfrm>
            <a:custGeom>
              <a:avLst/>
              <a:gdLst/>
              <a:ahLst/>
              <a:cxnLst/>
              <a:rect r="r" b="b" t="t" l="l"/>
              <a:pathLst>
                <a:path h="980369" w="4831703">
                  <a:moveTo>
                    <a:pt x="0" y="0"/>
                  </a:moveTo>
                  <a:lnTo>
                    <a:pt x="4831703" y="0"/>
                  </a:lnTo>
                  <a:lnTo>
                    <a:pt x="4831703" y="980369"/>
                  </a:lnTo>
                  <a:lnTo>
                    <a:pt x="0" y="980369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4831703" cy="932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80871" y="4268501"/>
            <a:ext cx="14126257" cy="195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1"/>
              </a:lnSpc>
            </a:pPr>
            <a:r>
              <a:rPr lang="en-US" b="true" sz="14279" spc="-5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Exploring Cybersecurity in a Modern World</dc:description>
  <dc:identifier>DAGwapsulMU</dc:identifier>
  <dcterms:modified xsi:type="dcterms:W3CDTF">2011-08-01T06:04:30Z</dcterms:modified>
  <cp:revision>1</cp:revision>
  <dc:title>Presentation - Exploring Cybersecurity in a Modern World</dc:title>
</cp:coreProperties>
</file>